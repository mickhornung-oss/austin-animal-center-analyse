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webextensions/webextension2.xml" ContentType="application/vnd.ms-office.webextension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webextensions/webextension3.xml" ContentType="application/vnd.ms-office.webextension+xml"/>
  <Override PartName="/ppt/notesSlides/notesSlide7.xml" ContentType="application/vnd.openxmlformats-officedocument.presentationml.notesSlide+xml"/>
  <Override PartName="/ppt/webextensions/webextension4.xml" ContentType="application/vnd.ms-office.webextension+xml"/>
  <Override PartName="/ppt/notesSlides/notesSlide8.xml" ContentType="application/vnd.openxmlformats-officedocument.presentationml.notesSlide+xml"/>
  <Override PartName="/ppt/webextensions/webextension5.xml" ContentType="application/vnd.ms-office.webextension+xml"/>
  <Override PartName="/ppt/webextensions/webextension6.xml" ContentType="application/vnd.ms-office.webextension+xml"/>
  <Override PartName="/ppt/notesSlides/notesSlide9.xml" ContentType="application/vnd.openxmlformats-officedocument.presentationml.notesSlide+xml"/>
  <Override PartName="/ppt/webextensions/webextension7.xml" ContentType="application/vnd.ms-office.webextension+xml"/>
  <Override PartName="/ppt/notesSlides/notesSlide10.xml" ContentType="application/vnd.openxmlformats-officedocument.presentationml.notesSlide+xml"/>
  <Override PartName="/ppt/webextensions/webextension8.xml" ContentType="application/vnd.ms-office.webextension+xml"/>
  <Override PartName="/ppt/notesSlides/notesSlide11.xml" ContentType="application/vnd.openxmlformats-officedocument.presentationml.notesSlide+xml"/>
  <Override PartName="/ppt/webextensions/webextension9.xml" ContentType="application/vnd.ms-office.webextension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27415" autoAdjust="0"/>
  </p:normalViewPr>
  <p:slideViewPr>
    <p:cSldViewPr snapToGrid="0">
      <p:cViewPr varScale="1">
        <p:scale>
          <a:sx n="22" d="100"/>
          <a:sy n="22" d="100"/>
        </p:scale>
        <p:origin x="3024" y="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CFDD3-3913-40F7-AC5B-1288D0F58EFA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9AED5-5355-4E94-9A9D-9827EEFE0A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2810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b="1" dirty="0"/>
              <a:t>Folie 1 – Titelseite</a:t>
            </a:r>
          </a:p>
          <a:p>
            <a:pPr>
              <a:buNone/>
            </a:pPr>
            <a:r>
              <a:rPr lang="de-DE" i="1" dirty="0"/>
              <a:t>(kurze Pause, Blick ins Publikum)</a:t>
            </a:r>
            <a:endParaRPr lang="de-DE" dirty="0"/>
          </a:p>
          <a:p>
            <a:pPr>
              <a:buNone/>
            </a:pPr>
            <a:r>
              <a:rPr lang="de-DE" dirty="0"/>
              <a:t>Guten Tag.</a:t>
            </a:r>
            <a:br>
              <a:rPr lang="de-DE" dirty="0"/>
            </a:br>
            <a:r>
              <a:rPr lang="de-DE" dirty="0"/>
              <a:t>Ich möchte heute zeigen, wie wir aus einer einzigen, unsortierten Datentabelle ein komplettes Analyse-System entwickelt haben – für das Austin Animal Center.</a:t>
            </a:r>
          </a:p>
          <a:p>
            <a:pPr>
              <a:buNone/>
            </a:pPr>
            <a:r>
              <a:rPr lang="de-DE" dirty="0"/>
              <a:t>Diese Daten stammen aus echten Tierheim-Einträgen zwischen 2013 und 2018.</a:t>
            </a:r>
            <a:br>
              <a:rPr lang="de-DE" dirty="0"/>
            </a:br>
            <a:r>
              <a:rPr lang="de-DE" dirty="0"/>
              <a:t>Am Ende ging es nicht nur darum, Zahlen zu visualisieren…</a:t>
            </a:r>
            <a:br>
              <a:rPr lang="de-DE" dirty="0"/>
            </a:br>
            <a:r>
              <a:rPr lang="de-DE" dirty="0"/>
              <a:t>sondern zu verstehen, was sie bedeuten – und wie sie helfen können, Tierleben zu verbessern.</a:t>
            </a:r>
          </a:p>
          <a:p>
            <a:pPr>
              <a:buNone/>
            </a:pPr>
            <a:r>
              <a:rPr lang="de-DE" i="1" dirty="0"/>
              <a:t>(Pause)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9AED5-5355-4E94-9A9D-9827EEFE0A8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6614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b="1" dirty="0"/>
              <a:t>Folie 2 – Agenda</a:t>
            </a:r>
          </a:p>
          <a:p>
            <a:pPr>
              <a:buNone/>
            </a:pPr>
            <a:r>
              <a:rPr lang="de-DE" dirty="0"/>
              <a:t>Wir gehen das Schritt für Schritt durch:</a:t>
            </a:r>
          </a:p>
          <a:p>
            <a:pPr>
              <a:buNone/>
            </a:pPr>
            <a:r>
              <a:rPr lang="de-DE" dirty="0"/>
              <a:t>Zuerst die Ausgangslage – also, womit wir begonnen haben.</a:t>
            </a:r>
            <a:br>
              <a:rPr lang="de-DE" dirty="0"/>
            </a:br>
            <a:r>
              <a:rPr lang="de-DE" dirty="0"/>
              <a:t>Dann, wie wir das Datenmodell aufgebaut haben.</a:t>
            </a:r>
            <a:br>
              <a:rPr lang="de-DE" dirty="0"/>
            </a:br>
            <a:r>
              <a:rPr lang="de-DE" dirty="0"/>
              <a:t>Danach sehen wir die wichtigsten Kennzahlen:</a:t>
            </a:r>
            <a:br>
              <a:rPr lang="de-DE" dirty="0"/>
            </a:br>
            <a:r>
              <a:rPr lang="de-DE" dirty="0" err="1"/>
              <a:t>Intakes</a:t>
            </a:r>
            <a:r>
              <a:rPr lang="de-DE" dirty="0"/>
              <a:t>, Adoptionen, </a:t>
            </a:r>
            <a:r>
              <a:rPr lang="de-DE" dirty="0" err="1"/>
              <a:t>Euthanasien</a:t>
            </a:r>
            <a:r>
              <a:rPr lang="de-DE" dirty="0"/>
              <a:t>, Gesundheitszustände und Entwicklungen über die Jahre.</a:t>
            </a:r>
            <a:br>
              <a:rPr lang="de-DE" dirty="0"/>
            </a:br>
            <a:r>
              <a:rPr lang="de-DE" dirty="0"/>
              <a:t>Zum Schluss zeige ich, was diese Zahlen wirklich aussagen – und wie daraus bessere Entscheidungen werden.</a:t>
            </a:r>
          </a:p>
          <a:p>
            <a:pPr>
              <a:buNone/>
            </a:pPr>
            <a:r>
              <a:rPr lang="de-DE" i="1" dirty="0"/>
              <a:t>(kurze Pause, dann Blick auf nächste Folie)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9AED5-5355-4E94-9A9D-9827EEFE0A8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7430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b="1" dirty="0"/>
              <a:t>Folie 3 – Ausgangspunkt und Ziel</a:t>
            </a:r>
          </a:p>
          <a:p>
            <a:pPr>
              <a:buNone/>
            </a:pPr>
            <a:r>
              <a:rPr lang="de-DE" dirty="0"/>
              <a:t>Am Anfang hatten wir… eine einzige Tabelle.</a:t>
            </a:r>
            <a:br>
              <a:rPr lang="de-DE" dirty="0"/>
            </a:br>
            <a:r>
              <a:rPr lang="de-DE" dirty="0"/>
              <a:t>Fast 80 000 Zeilen, alles durcheinander – keine Struktur, keine Beziehungen, kein klares System.</a:t>
            </a:r>
          </a:p>
          <a:p>
            <a:pPr>
              <a:buNone/>
            </a:pPr>
            <a:r>
              <a:rPr lang="de-DE" dirty="0"/>
              <a:t>Wir haben diese Daten manuell aufgeteilt:</a:t>
            </a:r>
            <a:br>
              <a:rPr lang="de-DE" dirty="0"/>
            </a:br>
            <a:r>
              <a:rPr lang="de-DE" dirty="0"/>
              <a:t>Eine Faktentabelle für alle Ereignisse,</a:t>
            </a:r>
            <a:br>
              <a:rPr lang="de-DE" dirty="0"/>
            </a:br>
            <a:r>
              <a:rPr lang="de-DE" dirty="0"/>
              <a:t>eine Tier-Tabelle mit den Informationen zu Art, Geschlecht und Status,</a:t>
            </a:r>
            <a:br>
              <a:rPr lang="de-DE" dirty="0"/>
            </a:br>
            <a:r>
              <a:rPr lang="de-DE" dirty="0"/>
              <a:t>und eine Datumstabelle, die jedes Ereignis zeitlich einordnet.</a:t>
            </a:r>
          </a:p>
          <a:p>
            <a:pPr>
              <a:buNone/>
            </a:pPr>
            <a:r>
              <a:rPr lang="de-DE" i="1" dirty="0"/>
              <a:t>(kurze Pause)</a:t>
            </a:r>
            <a:endParaRPr lang="de-DE" dirty="0"/>
          </a:p>
          <a:p>
            <a:pPr>
              <a:buNone/>
            </a:pPr>
            <a:r>
              <a:rPr lang="de-DE" dirty="0"/>
              <a:t>Das Ziel war klar:</a:t>
            </a:r>
            <a:br>
              <a:rPr lang="de-DE" dirty="0"/>
            </a:br>
            <a:r>
              <a:rPr lang="de-DE" dirty="0"/>
              <a:t>Ein Modell, das man verstehen, aktualisieren und für Entscheidungen nutzen kann.</a:t>
            </a:r>
          </a:p>
          <a:p>
            <a:pPr>
              <a:buNone/>
            </a:pPr>
            <a:r>
              <a:rPr lang="de-DE" i="1" dirty="0"/>
              <a:t>(Sprechpause, atmen)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9AED5-5355-4E94-9A9D-9827EEFE0A8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3960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b="1" dirty="0"/>
              <a:t>Folie 4 – Aufbau des Datenmodells</a:t>
            </a:r>
          </a:p>
          <a:p>
            <a:pPr>
              <a:buNone/>
            </a:pPr>
            <a:r>
              <a:rPr lang="de-DE" dirty="0"/>
              <a:t>Hier sieht man unser Sternschema.</a:t>
            </a:r>
            <a:br>
              <a:rPr lang="de-DE" dirty="0"/>
            </a:br>
            <a:r>
              <a:rPr lang="de-DE" dirty="0"/>
              <a:t>In der Mitte liegen alle Ereignisse – Aufnahmen, Adoptionen, </a:t>
            </a:r>
            <a:r>
              <a:rPr lang="de-DE" dirty="0" err="1"/>
              <a:t>Euthanasien</a:t>
            </a:r>
            <a:r>
              <a:rPr lang="de-DE" dirty="0"/>
              <a:t> –</a:t>
            </a:r>
            <a:br>
              <a:rPr lang="de-DE" dirty="0"/>
            </a:br>
            <a:r>
              <a:rPr lang="de-DE" dirty="0"/>
              <a:t>und drumherum die Dimensionen: Tier und Zeit.</a:t>
            </a:r>
          </a:p>
          <a:p>
            <a:pPr>
              <a:buNone/>
            </a:pPr>
            <a:r>
              <a:rPr lang="de-DE" dirty="0"/>
              <a:t>Dadurch können wir jede Zahl einordnen.</a:t>
            </a:r>
            <a:br>
              <a:rPr lang="de-DE" dirty="0"/>
            </a:br>
            <a:r>
              <a:rPr lang="de-DE" dirty="0"/>
              <a:t>Zum Beispiel:</a:t>
            </a:r>
            <a:br>
              <a:rPr lang="de-DE" dirty="0"/>
            </a:br>
            <a:r>
              <a:rPr lang="de-DE" dirty="0"/>
              <a:t>Wie viele Hunde wurden 2015 adoptiert?</a:t>
            </a:r>
            <a:br>
              <a:rPr lang="de-DE" dirty="0"/>
            </a:br>
            <a:r>
              <a:rPr lang="de-DE" dirty="0"/>
              <a:t>Über 5 000.</a:t>
            </a:r>
            <a:br>
              <a:rPr lang="de-DE" dirty="0"/>
            </a:br>
            <a:r>
              <a:rPr lang="de-DE" dirty="0"/>
              <a:t>Oder: Wie stark ist die Euthanasiequote bei Katzen gesunken?</a:t>
            </a:r>
            <a:br>
              <a:rPr lang="de-DE" dirty="0"/>
            </a:br>
            <a:r>
              <a:rPr lang="de-DE" dirty="0"/>
              <a:t>Von fast 9 Prozent auf rund 5.</a:t>
            </a:r>
          </a:p>
          <a:p>
            <a:pPr>
              <a:buNone/>
            </a:pPr>
            <a:r>
              <a:rPr lang="de-DE" i="1" dirty="0"/>
              <a:t>(kurze Pause, Blick ins Publikum)</a:t>
            </a:r>
            <a:endParaRPr lang="de-DE" dirty="0"/>
          </a:p>
          <a:p>
            <a:pPr>
              <a:buNone/>
            </a:pPr>
            <a:r>
              <a:rPr lang="de-DE" dirty="0"/>
              <a:t>So eine Struktur spart Zeit, vermeidet Fehler – und macht aus Datensätzen Wissen.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9AED5-5355-4E94-9A9D-9827EEFE0A8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7692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b="1" dirty="0"/>
              <a:t>Folie 5 – Übersicht: </a:t>
            </a:r>
            <a:r>
              <a:rPr lang="de-DE" b="1" dirty="0" err="1"/>
              <a:t>Intakes</a:t>
            </a:r>
            <a:r>
              <a:rPr lang="de-DE" b="1" dirty="0"/>
              <a:t> &amp; Outcomes</a:t>
            </a:r>
          </a:p>
          <a:p>
            <a:pPr>
              <a:buNone/>
            </a:pPr>
            <a:r>
              <a:rPr lang="de-DE" dirty="0"/>
              <a:t>Jetzt sehen wir die Gesamtübersicht.</a:t>
            </a:r>
            <a:br>
              <a:rPr lang="de-DE" dirty="0"/>
            </a:br>
            <a:r>
              <a:rPr lang="de-DE" dirty="0"/>
              <a:t>Von 2013 bis 2018 wurden </a:t>
            </a:r>
            <a:r>
              <a:rPr lang="de-DE" b="1" dirty="0"/>
              <a:t>79 637 Tiere</a:t>
            </a:r>
            <a:r>
              <a:rPr lang="de-DE" dirty="0"/>
              <a:t> im Austin Animal Center aufgenommen.</a:t>
            </a:r>
          </a:p>
          <a:p>
            <a:pPr>
              <a:buNone/>
            </a:pPr>
            <a:r>
              <a:rPr lang="de-DE" dirty="0"/>
              <a:t>42 Prozent wurden adoptiert,</a:t>
            </a:r>
            <a:br>
              <a:rPr lang="de-DE" dirty="0"/>
            </a:br>
            <a:r>
              <a:rPr lang="de-DE" dirty="0"/>
              <a:t>7,8 Prozent euthanasiert,</a:t>
            </a:r>
            <a:br>
              <a:rPr lang="de-DE" dirty="0"/>
            </a:br>
            <a:r>
              <a:rPr lang="de-DE" dirty="0"/>
              <a:t>und etwa die Hälfte hatte andere Outcomes – etwa Rückgaben oder Transfers.</a:t>
            </a:r>
          </a:p>
          <a:p>
            <a:pPr>
              <a:buNone/>
            </a:pPr>
            <a:r>
              <a:rPr lang="de-DE" i="1" dirty="0"/>
              <a:t>(Pause)</a:t>
            </a:r>
            <a:endParaRPr lang="de-DE" dirty="0"/>
          </a:p>
          <a:p>
            <a:pPr>
              <a:buNone/>
            </a:pPr>
            <a:r>
              <a:rPr lang="de-DE" dirty="0"/>
              <a:t>In Zahlen heißt das:</a:t>
            </a:r>
            <a:br>
              <a:rPr lang="de-DE" dirty="0"/>
            </a:br>
            <a:r>
              <a:rPr lang="de-DE" dirty="0"/>
              <a:t>Rund 33 500 Adoptionen,</a:t>
            </a:r>
            <a:br>
              <a:rPr lang="de-DE" dirty="0"/>
            </a:br>
            <a:r>
              <a:rPr lang="de-DE" dirty="0"/>
              <a:t>über 6 000 </a:t>
            </a:r>
            <a:r>
              <a:rPr lang="de-DE" dirty="0" err="1"/>
              <a:t>Euthanasien</a:t>
            </a:r>
            <a:r>
              <a:rPr lang="de-DE" dirty="0"/>
              <a:t>,</a:t>
            </a:r>
            <a:br>
              <a:rPr lang="de-DE" dirty="0"/>
            </a:br>
            <a:r>
              <a:rPr lang="de-DE" dirty="0"/>
              <a:t>und fast 40 000 sonstige Fälle.</a:t>
            </a:r>
          </a:p>
          <a:p>
            <a:pPr>
              <a:buNone/>
            </a:pPr>
            <a:r>
              <a:rPr lang="de-DE" dirty="0"/>
              <a:t>Wenn man das nebeneinanderstellt, erkennt man, wie komplex Tierheimarbeit wirklich ist.</a:t>
            </a:r>
          </a:p>
          <a:p>
            <a:pPr>
              <a:buNone/>
            </a:pPr>
            <a:r>
              <a:rPr lang="de-DE" i="1" dirty="0"/>
              <a:t>(Sprechpause)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9AED5-5355-4E94-9A9D-9827EEFE0A8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4022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b="1" dirty="0"/>
              <a:t>Folie 6 – Adoptionen (Überblick)</a:t>
            </a:r>
          </a:p>
          <a:p>
            <a:pPr>
              <a:buNone/>
            </a:pPr>
            <a:r>
              <a:rPr lang="de-DE" dirty="0"/>
              <a:t>Hier sehen wir die reinen Adoptionen.</a:t>
            </a:r>
            <a:br>
              <a:rPr lang="de-DE" dirty="0"/>
            </a:br>
            <a:r>
              <a:rPr lang="de-DE" dirty="0"/>
              <a:t>Über </a:t>
            </a:r>
            <a:r>
              <a:rPr lang="de-DE" b="1" dirty="0"/>
              <a:t>34 000 Tiere</a:t>
            </a:r>
            <a:r>
              <a:rPr lang="de-DE" dirty="0"/>
              <a:t> fanden in diesem Zeitraum ein neues Zuhause.</a:t>
            </a:r>
          </a:p>
          <a:p>
            <a:pPr>
              <a:buNone/>
            </a:pPr>
            <a:r>
              <a:rPr lang="de-DE" dirty="0"/>
              <a:t>Und die Daten verraten noch mehr:</a:t>
            </a:r>
            <a:br>
              <a:rPr lang="de-DE" dirty="0"/>
            </a:br>
            <a:r>
              <a:rPr lang="de-DE" dirty="0"/>
              <a:t>Die meisten Adoptionen passieren am Wochenende – besonders am Samstag.</a:t>
            </a:r>
            <a:br>
              <a:rPr lang="de-DE" dirty="0"/>
            </a:br>
            <a:r>
              <a:rPr lang="de-DE" dirty="0"/>
              <a:t>Und im Sommer steigen die Zahlen deutlich.</a:t>
            </a:r>
          </a:p>
          <a:p>
            <a:pPr>
              <a:buNone/>
            </a:pPr>
            <a:r>
              <a:rPr lang="de-DE" i="1" dirty="0"/>
              <a:t>(Pause)</a:t>
            </a:r>
            <a:endParaRPr lang="de-DE" dirty="0"/>
          </a:p>
          <a:p>
            <a:pPr>
              <a:buNone/>
            </a:pPr>
            <a:r>
              <a:rPr lang="de-DE" dirty="0"/>
              <a:t>Das sind Informationen, mit denen man planen kann –</a:t>
            </a:r>
            <a:br>
              <a:rPr lang="de-DE" dirty="0"/>
            </a:br>
            <a:r>
              <a:rPr lang="de-DE" dirty="0"/>
              <a:t>z. B. wann Kampagnen Sinn machen oder wann man mehr Personal einsetzt.</a:t>
            </a:r>
          </a:p>
          <a:p>
            <a:pPr>
              <a:buNone/>
            </a:pPr>
            <a:r>
              <a:rPr lang="de-DE" i="1" dirty="0"/>
              <a:t>(Sprechpause)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9AED5-5355-4E94-9A9D-9827EEFE0A8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1049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b="1" dirty="0"/>
              <a:t>Folie 7 – Adoptionen im Zeitverlauf</a:t>
            </a:r>
          </a:p>
          <a:p>
            <a:pPr>
              <a:buNone/>
            </a:pPr>
            <a:r>
              <a:rPr lang="de-DE" dirty="0"/>
              <a:t>Wenn wir die Adoptionen über die Jahre betrachten, erkennt man ein klares Muster.</a:t>
            </a:r>
            <a:br>
              <a:rPr lang="de-DE" dirty="0"/>
            </a:br>
            <a:r>
              <a:rPr lang="de-DE" dirty="0"/>
              <a:t>Juni und Juli sind die stärksten Monate – über 50 Prozent Adoptionsrate.</a:t>
            </a:r>
            <a:br>
              <a:rPr lang="de-DE" dirty="0"/>
            </a:br>
            <a:r>
              <a:rPr lang="de-DE" dirty="0"/>
              <a:t>Im Winter dagegen sinkt die Rate auf rund 38 Prozent.</a:t>
            </a:r>
          </a:p>
          <a:p>
            <a:pPr>
              <a:buNone/>
            </a:pPr>
            <a:r>
              <a:rPr lang="de-DE" i="1" dirty="0"/>
              <a:t>(Pause)</a:t>
            </a:r>
            <a:endParaRPr lang="de-DE" dirty="0"/>
          </a:p>
          <a:p>
            <a:pPr>
              <a:buNone/>
            </a:pPr>
            <a:r>
              <a:rPr lang="de-DE" dirty="0"/>
              <a:t>Man sieht:</a:t>
            </a:r>
            <a:br>
              <a:rPr lang="de-DE" dirty="0"/>
            </a:br>
            <a:r>
              <a:rPr lang="de-DE" dirty="0"/>
              <a:t>Adoption ist ein saisonales Verhalten.</a:t>
            </a:r>
            <a:br>
              <a:rPr lang="de-DE" dirty="0"/>
            </a:br>
            <a:r>
              <a:rPr lang="de-DE" dirty="0"/>
              <a:t>Das Tierheim kann darauf reagieren –</a:t>
            </a:r>
            <a:br>
              <a:rPr lang="de-DE" dirty="0"/>
            </a:br>
            <a:r>
              <a:rPr lang="de-DE" dirty="0"/>
              <a:t>zum Beispiel durch gezielte Aktionen in den schwächeren Monaten.</a:t>
            </a:r>
          </a:p>
          <a:p>
            <a:pPr>
              <a:buNone/>
            </a:pPr>
            <a:r>
              <a:rPr lang="de-DE" i="1" dirty="0"/>
              <a:t>(kurze Pause, dann ruhig absetzen)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9AED5-5355-4E94-9A9D-9827EEFE0A8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3489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b="1" dirty="0"/>
              <a:t>Folie 8 – </a:t>
            </a:r>
            <a:r>
              <a:rPr lang="de-DE" b="1" dirty="0" err="1"/>
              <a:t>Euthanasien</a:t>
            </a:r>
            <a:r>
              <a:rPr lang="de-DE" b="1" dirty="0"/>
              <a:t> (Überblick)</a:t>
            </a:r>
          </a:p>
          <a:p>
            <a:pPr>
              <a:buNone/>
            </a:pPr>
            <a:r>
              <a:rPr lang="de-DE" dirty="0"/>
              <a:t>Die Kehrseite der Bilanz:</a:t>
            </a:r>
            <a:br>
              <a:rPr lang="de-DE" dirty="0"/>
            </a:br>
            <a:r>
              <a:rPr lang="de-DE" dirty="0"/>
              <a:t>Insgesamt </a:t>
            </a:r>
            <a:r>
              <a:rPr lang="de-DE" b="1" dirty="0"/>
              <a:t>6 238 </a:t>
            </a:r>
            <a:r>
              <a:rPr lang="de-DE" b="1" dirty="0" err="1"/>
              <a:t>Euthanasien</a:t>
            </a:r>
            <a:r>
              <a:rPr lang="de-DE" dirty="0"/>
              <a:t>, also 7,8 Prozent aller Fälle.</a:t>
            </a:r>
          </a:p>
          <a:p>
            <a:pPr>
              <a:buNone/>
            </a:pPr>
            <a:r>
              <a:rPr lang="de-DE" dirty="0"/>
              <a:t>Davon entfallen 72 Prozent auf die Kategorie </a:t>
            </a:r>
            <a:r>
              <a:rPr lang="de-DE" i="1" dirty="0"/>
              <a:t>Other</a:t>
            </a:r>
            <a:r>
              <a:rPr lang="de-DE" dirty="0"/>
              <a:t> – also Wildtiere, Vögel oder stark verletzte Kleintiere.</a:t>
            </a:r>
            <a:br>
              <a:rPr lang="de-DE" dirty="0"/>
            </a:br>
            <a:r>
              <a:rPr lang="de-DE" dirty="0"/>
              <a:t>Bei Katzen liegt die Rate bei 5 Prozent, bei Hunden nur bei 3 Prozent.</a:t>
            </a:r>
          </a:p>
          <a:p>
            <a:pPr>
              <a:buNone/>
            </a:pPr>
            <a:r>
              <a:rPr lang="de-DE" i="1" dirty="0"/>
              <a:t>(Pause)</a:t>
            </a:r>
            <a:endParaRPr lang="de-DE" dirty="0"/>
          </a:p>
          <a:p>
            <a:pPr>
              <a:buNone/>
            </a:pPr>
            <a:r>
              <a:rPr lang="de-DE" dirty="0"/>
              <a:t>Das ist hart, aber wichtig.</a:t>
            </a:r>
            <a:br>
              <a:rPr lang="de-DE" dirty="0"/>
            </a:br>
            <a:r>
              <a:rPr lang="de-DE" dirty="0"/>
              <a:t>Denn diese Zahlen zeigen, wo das System überlastet ist –</a:t>
            </a:r>
            <a:br>
              <a:rPr lang="de-DE" dirty="0"/>
            </a:br>
            <a:r>
              <a:rPr lang="de-DE" dirty="0"/>
              <a:t>und wo Ressourcen oder Pflegeplätze fehlen.</a:t>
            </a:r>
          </a:p>
          <a:p>
            <a:pPr>
              <a:buNone/>
            </a:pPr>
            <a:r>
              <a:rPr lang="de-DE" i="1" dirty="0"/>
              <a:t>(Sprechpause)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9AED5-5355-4E94-9A9D-9827EEFE0A8B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1354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b="1" dirty="0"/>
              <a:t>Folie 9 – Gesundheit &amp; </a:t>
            </a:r>
            <a:r>
              <a:rPr lang="de-DE" b="1" dirty="0" err="1"/>
              <a:t>Euthanasien</a:t>
            </a:r>
            <a:endParaRPr lang="de-DE" b="1" dirty="0"/>
          </a:p>
          <a:p>
            <a:pPr>
              <a:buNone/>
            </a:pPr>
            <a:r>
              <a:rPr lang="de-DE" dirty="0"/>
              <a:t>Schauen wir auf den Gesundheitszustand:</a:t>
            </a:r>
            <a:br>
              <a:rPr lang="de-DE" dirty="0"/>
            </a:br>
            <a:r>
              <a:rPr lang="de-DE" dirty="0"/>
              <a:t>44 Prozent der eingeschläferten Tiere waren krank,</a:t>
            </a:r>
            <a:br>
              <a:rPr lang="de-DE" dirty="0"/>
            </a:br>
            <a:r>
              <a:rPr lang="de-DE" dirty="0"/>
              <a:t>37 Prozent verletzt,</a:t>
            </a:r>
            <a:br>
              <a:rPr lang="de-DE" dirty="0"/>
            </a:br>
            <a:r>
              <a:rPr lang="de-DE" dirty="0"/>
              <a:t>aber 4 Prozent gesund.</a:t>
            </a:r>
          </a:p>
          <a:p>
            <a:pPr>
              <a:buNone/>
            </a:pPr>
            <a:r>
              <a:rPr lang="de-DE" i="1" dirty="0"/>
              <a:t>(Pause)</a:t>
            </a:r>
            <a:endParaRPr lang="de-DE" dirty="0"/>
          </a:p>
          <a:p>
            <a:pPr>
              <a:buNone/>
            </a:pPr>
            <a:r>
              <a:rPr lang="de-DE" dirty="0"/>
              <a:t>Das bedeutet:</a:t>
            </a:r>
            <a:br>
              <a:rPr lang="de-DE" dirty="0"/>
            </a:br>
            <a:r>
              <a:rPr lang="de-DE" dirty="0"/>
              <a:t>Nicht jede Euthanasie ist medizinisch nötig – manchmal ist sie organisatorisch bedingt.</a:t>
            </a:r>
            <a:br>
              <a:rPr lang="de-DE" dirty="0"/>
            </a:br>
            <a:r>
              <a:rPr lang="de-DE" dirty="0"/>
              <a:t>Wenn die Kapazitäten voll sind, trifft es auch gesunde Tiere.</a:t>
            </a:r>
          </a:p>
          <a:p>
            <a:pPr>
              <a:buNone/>
            </a:pPr>
            <a:r>
              <a:rPr lang="de-DE" i="1" dirty="0"/>
              <a:t>(kurze Sprechpause, leiserer Ton)</a:t>
            </a:r>
            <a:br>
              <a:rPr lang="de-DE" dirty="0"/>
            </a:br>
            <a:r>
              <a:rPr lang="de-DE" dirty="0"/>
              <a:t>Das ist kein Vorwurf – das ist ein Hinweis, wo Handlungsbedarf besteht.</a:t>
            </a:r>
          </a:p>
          <a:p>
            <a:pPr>
              <a:buNone/>
            </a:pPr>
            <a:r>
              <a:rPr lang="de-DE" i="1" dirty="0"/>
              <a:t>(Pause, Blick halten)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9AED5-5355-4E94-9A9D-9827EEFE0A8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7760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b="1" dirty="0"/>
              <a:t>Folie 10 – Gesundheit &amp; </a:t>
            </a:r>
            <a:r>
              <a:rPr lang="de-DE" b="1" dirty="0" err="1"/>
              <a:t>Intakes</a:t>
            </a:r>
            <a:endParaRPr lang="de-DE" b="1" dirty="0"/>
          </a:p>
          <a:p>
            <a:pPr>
              <a:buNone/>
            </a:pPr>
            <a:r>
              <a:rPr lang="de-DE" dirty="0"/>
              <a:t>Hier die andere Seite:</a:t>
            </a:r>
            <a:br>
              <a:rPr lang="de-DE" dirty="0"/>
            </a:br>
            <a:r>
              <a:rPr lang="de-DE" dirty="0"/>
              <a:t>Fast </a:t>
            </a:r>
            <a:r>
              <a:rPr lang="de-DE" b="1" dirty="0"/>
              <a:t>88 Prozent</a:t>
            </a:r>
            <a:r>
              <a:rPr lang="de-DE" dirty="0"/>
              <a:t> der Tiere kommen gesund ins Center.</a:t>
            </a:r>
            <a:br>
              <a:rPr lang="de-DE" dirty="0"/>
            </a:br>
            <a:r>
              <a:rPr lang="de-DE" dirty="0"/>
              <a:t>Nur 5 Prozent sind verletzt, 4 Prozent krank.</a:t>
            </a:r>
          </a:p>
          <a:p>
            <a:pPr>
              <a:buNone/>
            </a:pPr>
            <a:r>
              <a:rPr lang="de-DE" i="1" dirty="0"/>
              <a:t>(Pause)</a:t>
            </a:r>
            <a:endParaRPr lang="de-DE" dirty="0"/>
          </a:p>
          <a:p>
            <a:pPr>
              <a:buNone/>
            </a:pPr>
            <a:r>
              <a:rPr lang="de-DE" dirty="0"/>
              <a:t>Das zeigt:</a:t>
            </a:r>
            <a:br>
              <a:rPr lang="de-DE" dirty="0"/>
            </a:br>
            <a:r>
              <a:rPr lang="de-DE" dirty="0"/>
              <a:t>Die Belastung entsteht nicht bei der Aufnahme –</a:t>
            </a:r>
            <a:br>
              <a:rPr lang="de-DE" dirty="0"/>
            </a:br>
            <a:r>
              <a:rPr lang="de-DE" dirty="0"/>
              <a:t>sondern danach, wenn Tiere länger bleiben, weil Plätze oder Vermittlungsoptionen fehlen.</a:t>
            </a:r>
          </a:p>
          <a:p>
            <a:pPr>
              <a:buNone/>
            </a:pPr>
            <a:r>
              <a:rPr lang="de-DE" i="1" dirty="0"/>
              <a:t>(Sprechpause)</a:t>
            </a:r>
            <a:br>
              <a:rPr lang="de-DE" dirty="0"/>
            </a:br>
            <a:r>
              <a:rPr lang="de-DE" dirty="0"/>
              <a:t>Auch das ist eine Erkenntnis, die man nur durch Daten bekommt.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9AED5-5355-4E94-9A9D-9827EEFE0A8B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426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Folie 11 – Entwicklung 2013 – 2018</a:t>
            </a:r>
          </a:p>
          <a:p>
            <a:r>
              <a:rPr lang="de-DE" dirty="0"/>
              <a:t>Über die Jahre zeigt sich eine klare Richtung.</a:t>
            </a:r>
            <a:br>
              <a:rPr lang="de-DE" dirty="0"/>
            </a:br>
            <a:r>
              <a:rPr lang="de-DE" dirty="0"/>
              <a:t>Die Gesamtaufnahmen bleiben relativ stabil.</a:t>
            </a:r>
            <a:br>
              <a:rPr lang="de-DE" dirty="0"/>
            </a:br>
            <a:r>
              <a:rPr lang="de-DE" dirty="0"/>
              <a:t>Die Adoptionen steigen leicht,</a:t>
            </a:r>
            <a:br>
              <a:rPr lang="de-DE" dirty="0"/>
            </a:br>
            <a:r>
              <a:rPr lang="de-DE" dirty="0"/>
              <a:t>und die </a:t>
            </a:r>
            <a:r>
              <a:rPr lang="de-DE" dirty="0" err="1"/>
              <a:t>Euthanasien</a:t>
            </a:r>
            <a:r>
              <a:rPr lang="de-DE" dirty="0"/>
              <a:t> sinken kontinuierlich –</a:t>
            </a:r>
            <a:br>
              <a:rPr lang="de-DE" dirty="0"/>
            </a:br>
            <a:r>
              <a:rPr lang="de-DE" dirty="0"/>
              <a:t>von über 10 Prozent auf unter 8 Prozent.</a:t>
            </a:r>
          </a:p>
          <a:p>
            <a:r>
              <a:rPr lang="de-DE" i="1" dirty="0"/>
              <a:t>(Pause)</a:t>
            </a:r>
            <a:endParaRPr lang="de-DE" dirty="0"/>
          </a:p>
          <a:p>
            <a:r>
              <a:rPr lang="de-DE" dirty="0"/>
              <a:t>Das ist Fortschritt –</a:t>
            </a:r>
            <a:br>
              <a:rPr lang="de-DE" dirty="0"/>
            </a:br>
            <a:r>
              <a:rPr lang="de-DE" dirty="0"/>
              <a:t>sichtbar, belegbar und messbar.</a:t>
            </a:r>
            <a:br>
              <a:rPr lang="de-DE" dirty="0"/>
            </a:br>
            <a:r>
              <a:rPr lang="de-DE" dirty="0"/>
              <a:t>Die Arbeit trägt Früchte,</a:t>
            </a:r>
            <a:br>
              <a:rPr lang="de-DE" dirty="0"/>
            </a:br>
            <a:r>
              <a:rPr lang="de-DE" dirty="0"/>
              <a:t>und genau solche Entwicklungen kann man künftig noch gezielter steuern.</a:t>
            </a:r>
          </a:p>
          <a:p>
            <a:r>
              <a:rPr lang="de-DE" i="1" dirty="0"/>
              <a:t>(Sprechpause)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9AED5-5355-4E94-9A9D-9827EEFE0A8B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40317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b="1" dirty="0"/>
              <a:t>Folie 12 – Fazit &amp; Ausblick</a:t>
            </a:r>
          </a:p>
          <a:p>
            <a:pPr>
              <a:buNone/>
            </a:pPr>
            <a:r>
              <a:rPr lang="de-DE" dirty="0"/>
              <a:t>Was wir hier sehen, ist mehr als eine Statistik.</a:t>
            </a:r>
            <a:br>
              <a:rPr lang="de-DE" dirty="0"/>
            </a:br>
            <a:r>
              <a:rPr lang="de-DE" dirty="0"/>
              <a:t>Wir haben gezeigt, dass Daten im Tierheim keine Büroarbeit sind –</a:t>
            </a:r>
            <a:br>
              <a:rPr lang="de-DE" dirty="0"/>
            </a:br>
            <a:r>
              <a:rPr lang="de-DE" dirty="0"/>
              <a:t>sie sind Werkzeug, Entscheidungshilfe und Beleg für Fortschritt.</a:t>
            </a:r>
          </a:p>
          <a:p>
            <a:pPr>
              <a:buNone/>
            </a:pPr>
            <a:r>
              <a:rPr lang="de-DE" i="1" dirty="0"/>
              <a:t>(Pause)</a:t>
            </a:r>
            <a:endParaRPr lang="de-DE" dirty="0"/>
          </a:p>
          <a:p>
            <a:pPr>
              <a:buNone/>
            </a:pPr>
            <a:r>
              <a:rPr lang="de-DE" dirty="0"/>
              <a:t>Aus einer einzigen Tabelle wurde ein System, das Abläufe sichtbar macht:</a:t>
            </a:r>
            <a:br>
              <a:rPr lang="de-DE" dirty="0"/>
            </a:br>
            <a:r>
              <a:rPr lang="de-DE" dirty="0"/>
              <a:t>Wann Adoptionen gelingen, wo Engpässe entstehen,</a:t>
            </a:r>
            <a:br>
              <a:rPr lang="de-DE" dirty="0"/>
            </a:br>
            <a:r>
              <a:rPr lang="de-DE" dirty="0"/>
              <a:t>und wie das Tierheim sich entwickelt.</a:t>
            </a:r>
          </a:p>
          <a:p>
            <a:pPr>
              <a:buNone/>
            </a:pPr>
            <a:r>
              <a:rPr lang="de-DE" dirty="0"/>
              <a:t>Mit klaren Kennzahlen wird Transparenz zur Routine –</a:t>
            </a:r>
            <a:br>
              <a:rPr lang="de-DE" dirty="0"/>
            </a:br>
            <a:r>
              <a:rPr lang="de-DE" dirty="0"/>
              <a:t>und Tierschutz planbar.</a:t>
            </a:r>
          </a:p>
          <a:p>
            <a:pPr>
              <a:buNone/>
            </a:pPr>
            <a:r>
              <a:rPr lang="de-DE" i="1" dirty="0"/>
              <a:t>(längere Pause, leiser werdend)</a:t>
            </a:r>
            <a:br>
              <a:rPr lang="de-DE" dirty="0"/>
            </a:br>
            <a:r>
              <a:rPr lang="de-DE" dirty="0"/>
              <a:t>Wer Daten versteht, gestaltet Zukunft.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9AED5-5355-4E94-9A9D-9827EEFE0A8B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1149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863D-1E26-4CEA-9E39-4D29960B1C0A}" type="datetime1">
              <a:rPr lang="de-DE" smtClean="0"/>
              <a:t>08.10.2025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Michael Hornung DataSmartPoint Projektarbeit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75479-B7B4-4155-BCBC-D37B4519C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2618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C8A79-A28D-4BAA-AFDA-6B6D2B9534D2}" type="datetime1">
              <a:rPr lang="de-DE" smtClean="0"/>
              <a:t>08.10.2025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Michael Hornung DataSmartPoint Projektarbeit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75479-B7B4-4155-BCBC-D37B4519C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042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AD579-E8F4-4DE0-BFE0-33605D8AFC36}" type="datetime1">
              <a:rPr lang="de-DE" smtClean="0"/>
              <a:t>08.10.2025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Michael Hornung DataSmartPoint Projektarbeit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75479-B7B4-4155-BCBC-D37B4519C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9846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C648-875B-4D33-B3D3-F6B838B47DE9}" type="datetime1">
              <a:rPr lang="de-DE" smtClean="0"/>
              <a:t>08.10.2025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Michael Hornung DataSmartPoint Projektarbeit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75479-B7B4-4155-BCBC-D37B4519C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33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3CFC7-3D88-4AEF-9D7D-90AB191B3D36}" type="datetime1">
              <a:rPr lang="de-DE" smtClean="0"/>
              <a:t>08.10.2025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Michael Hornung DataSmartPoint Projektarbeit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75479-B7B4-4155-BCBC-D37B4519C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872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4E94-A9C5-4BEB-967D-998445D12DA8}" type="datetime1">
              <a:rPr lang="de-DE" smtClean="0"/>
              <a:t>08.10.2025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Michael Hornung DataSmartPoint Projektarbeit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75479-B7B4-4155-BCBC-D37B4519C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5548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3683-F011-4375-89D3-AA819934302A}" type="datetime1">
              <a:rPr lang="de-DE" smtClean="0"/>
              <a:t>08.10.2025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Michael Hornung DataSmartPoint Projektarbeit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75479-B7B4-4155-BCBC-D37B4519C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6800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1863-BBB9-44D7-B267-C7382BB9DE89}" type="datetime1">
              <a:rPr lang="de-DE" smtClean="0"/>
              <a:t>08.10.2025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Michael Hornung DataSmartPoint Projektarbeit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75479-B7B4-4155-BCBC-D37B4519C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9999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B5EA6-7687-4F83-9F09-BF4A50AD195E}" type="datetime1">
              <a:rPr lang="de-DE" smtClean="0"/>
              <a:t>08.10.2025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Michael Hornung DataSmartPoint Projektarbeit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75479-B7B4-4155-BCBC-D37B4519C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6271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DB58C-A77C-4BA3-AD71-B453C7DC5E3F}" type="datetime1">
              <a:rPr lang="de-DE" smtClean="0"/>
              <a:t>08.10.2025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Michael Hornung DataSmartPoint Projektarbeit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75479-B7B4-4155-BCBC-D37B4519C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917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6C3A-50C0-49B3-8CBC-BD42C98C1794}" type="datetime1">
              <a:rPr lang="de-DE" smtClean="0"/>
              <a:t>08.10.2025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Michael Hornung DataSmartPoint Projektarbeit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75479-B7B4-4155-BCBC-D37B4519C2C2}" type="slidenum">
              <a:rPr lang="de-DE" smtClean="0"/>
              <a:t>‹Nr.›</a:t>
            </a:fld>
            <a:endParaRPr lang="de-D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7035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77CDB-EC73-48EE-9407-25D5442606AA}" type="datetime1">
              <a:rPr lang="de-DE" smtClean="0"/>
              <a:t>08.10.2025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Michael Hornung DataSmartPoint Projektarbeit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75479-B7B4-4155-BCBC-D37B4519C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1453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50155-2198-4DB3-88B8-B03AACF98135}" type="datetime1">
              <a:rPr lang="de-DE" smtClean="0"/>
              <a:t>08.10.2025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Michael Hornung DataSmartPoint Projektarbeit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75479-B7B4-4155-BCBC-D37B4519C2C2}" type="slidenum">
              <a:rPr lang="de-DE" smtClean="0"/>
              <a:t>‹Nr.›</a:t>
            </a:fld>
            <a:endParaRPr lang="de-D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2349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F0B24-E4A8-4FDA-A450-8649FAF35E77}" type="datetime1">
              <a:rPr lang="de-DE" smtClean="0"/>
              <a:t>08.10.2025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Michael Hornung DataSmartPoint Projektarbeit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75479-B7B4-4155-BCBC-D37B4519C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21115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6ED2-7F90-45CE-836D-A3A3A97D58D3}" type="datetime1">
              <a:rPr lang="de-DE" smtClean="0"/>
              <a:t>08.10.2025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Michael Hornung DataSmartPoint Projektarbeit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75479-B7B4-4155-BCBC-D37B4519C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0928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B40B-440F-4BC9-AC4B-1BE908856F87}" type="datetime1">
              <a:rPr lang="de-DE" smtClean="0"/>
              <a:t>08.10.2025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Michael Hornung DataSmartPoint Projektarbeit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75479-B7B4-4155-BCBC-D37B4519C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1226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6E6140-FBB9-48EC-A6C1-66617BDF369F}" type="datetime1">
              <a:rPr lang="de-DE" smtClean="0"/>
              <a:t>08.10.2025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Michael Hornung DataSmartPoint Projektarbeit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3975479-B7B4-4155-BCBC-D37B4519C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506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11/relationships/webextension" Target="../webextensions/webextension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11/relationships/webextension" Target="../webextensions/webextension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11/relationships/webextension" Target="../webextensions/webextension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microsoft.com/office/2011/relationships/webextension" Target="../webextensions/webextension6.xml"/><Relationship Id="rId5" Type="http://schemas.openxmlformats.org/officeDocument/2006/relationships/image" Target="../media/image3.png"/><Relationship Id="rId4" Type="http://schemas.microsoft.com/office/2011/relationships/webextension" Target="../webextensions/webextension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11/relationships/webextension" Target="../webextensions/webextension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11/relationships/webextension" Target="../webextensions/webextension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11/relationships/webextension" Target="../webextensions/webextension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Gebäude, draußen, Himmel, Baum enthält.&#10;&#10;KI-generierte Inhalte können fehlerhaft sein.">
            <a:extLst>
              <a:ext uri="{FF2B5EF4-FFF2-40B4-BE49-F238E27FC236}">
                <a16:creationId xmlns:a16="http://schemas.microsoft.com/office/drawing/2014/main" id="{C3A44507-1F49-EC92-910C-3DCF0EC45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1" t="9091" r="1" b="1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27" name="Isosceles Triangle 29">
            <a:extLst>
              <a:ext uri="{FF2B5EF4-FFF2-40B4-BE49-F238E27FC236}">
                <a16:creationId xmlns:a16="http://schemas.microsoft.com/office/drawing/2014/main" id="{3167F201-EA3A-41F3-8305-5985A44A9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FFD44D11-B1C5-420A-9591-370DC8BAA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84541" y="0"/>
            <a:ext cx="73152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FF46BC6-C78D-47E7-87CF-A1DD38B02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E3C958F-F320-49F4-9AB7-FD2F51A77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23">
            <a:extLst>
              <a:ext uri="{FF2B5EF4-FFF2-40B4-BE49-F238E27FC236}">
                <a16:creationId xmlns:a16="http://schemas.microsoft.com/office/drawing/2014/main" id="{1C4DC544-6AEA-484E-A978-32384E2F9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40" name="Rectangle 25">
            <a:extLst>
              <a:ext uri="{FF2B5EF4-FFF2-40B4-BE49-F238E27FC236}">
                <a16:creationId xmlns:a16="http://schemas.microsoft.com/office/drawing/2014/main" id="{A1F1470C-B594-449D-A8CD-EB7BC156F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B809F8B1-FE88-427F-98C6-1B8CFED80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60B1AC7-D0B9-A851-2657-46402A19E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4200" y="1678665"/>
            <a:ext cx="4569803" cy="2369131"/>
          </a:xfrm>
        </p:spPr>
        <p:txBody>
          <a:bodyPr>
            <a:normAutofit/>
          </a:bodyPr>
          <a:lstStyle/>
          <a:p>
            <a:pPr algn="ctr"/>
            <a:r>
              <a:rPr lang="de-DE" sz="4800" b="1" dirty="0">
                <a:solidFill>
                  <a:schemeClr val="tx1"/>
                </a:solidFill>
              </a:rPr>
              <a:t>Datenanalyse – Austin Animal Center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FD5AC4-3BB2-075E-4AE1-96C9409F7A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0964" y="4050832"/>
            <a:ext cx="4573037" cy="1096899"/>
          </a:xfrm>
        </p:spPr>
        <p:txBody>
          <a:bodyPr>
            <a:normAutofit/>
          </a:bodyPr>
          <a:lstStyle/>
          <a:p>
            <a:pPr algn="ctr"/>
            <a:r>
              <a:rPr lang="de-DE" sz="2000" b="1" dirty="0">
                <a:solidFill>
                  <a:schemeClr val="tx1"/>
                </a:solidFill>
              </a:rPr>
              <a:t>Analyse der Tieraufnahmen und Outcomes 2013–2018</a:t>
            </a:r>
          </a:p>
        </p:txBody>
      </p:sp>
      <p:sp>
        <p:nvSpPr>
          <p:cNvPr id="44" name="Rectangle 27">
            <a:extLst>
              <a:ext uri="{FF2B5EF4-FFF2-40B4-BE49-F238E27FC236}">
                <a16:creationId xmlns:a16="http://schemas.microsoft.com/office/drawing/2014/main" id="{2050D290-680D-48D7-9488-498F59E54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46" name="Rectangle 28">
            <a:extLst>
              <a:ext uri="{FF2B5EF4-FFF2-40B4-BE49-F238E27FC236}">
                <a16:creationId xmlns:a16="http://schemas.microsoft.com/office/drawing/2014/main" id="{E8C81616-E276-41D8-92C5-1C891FE99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48" name="Rectangle 29">
            <a:extLst>
              <a:ext uri="{FF2B5EF4-FFF2-40B4-BE49-F238E27FC236}">
                <a16:creationId xmlns:a16="http://schemas.microsoft.com/office/drawing/2014/main" id="{86BBDB21-2BF1-4C2F-A790-19FBC789C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E78FF87C-9F4A-4F75-998D-3ECB6543B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E9EA324-2461-BB51-F4A8-2827B74F7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7854" y="6267118"/>
            <a:ext cx="6297612" cy="365125"/>
          </a:xfrm>
        </p:spPr>
        <p:txBody>
          <a:bodyPr/>
          <a:lstStyle/>
          <a:p>
            <a:r>
              <a:rPr lang="de-DE" sz="1200" b="1" dirty="0">
                <a:solidFill>
                  <a:schemeClr val="tx1"/>
                </a:solidFill>
              </a:rPr>
              <a:t>Michael Hornung </a:t>
            </a:r>
            <a:r>
              <a:rPr lang="de-DE" sz="1200" b="1" dirty="0" err="1">
                <a:solidFill>
                  <a:schemeClr val="tx1"/>
                </a:solidFill>
              </a:rPr>
              <a:t>DataSmartPoint</a:t>
            </a:r>
            <a:r>
              <a:rPr lang="de-DE" sz="1200" b="1" dirty="0">
                <a:solidFill>
                  <a:schemeClr val="tx1"/>
                </a:solidFill>
              </a:rPr>
              <a:t> Projektarbeit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B5ECBC8-FE99-4EB9-8B3E-1B6D6E7880DC}"/>
              </a:ext>
            </a:extLst>
          </p:cNvPr>
          <p:cNvSpPr txBox="1"/>
          <p:nvPr/>
        </p:nvSpPr>
        <p:spPr>
          <a:xfrm>
            <a:off x="9676563" y="144273"/>
            <a:ext cx="2388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/>
              <a:t>„Daten erzählen Geschichten – wenn man ihnen zuhört“</a:t>
            </a:r>
          </a:p>
        </p:txBody>
      </p:sp>
    </p:spTree>
    <p:extLst>
      <p:ext uri="{BB962C8B-B14F-4D97-AF65-F5344CB8AC3E}">
        <p14:creationId xmlns:p14="http://schemas.microsoft.com/office/powerpoint/2010/main" val="4163955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4C07C33-149F-395A-41EB-58E05CF6F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1" t="9091" r="1" b="1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11" name="Isosceles Triangle 13">
            <a:extLst>
              <a:ext uri="{FF2B5EF4-FFF2-40B4-BE49-F238E27FC236}">
                <a16:creationId xmlns:a16="http://schemas.microsoft.com/office/drawing/2014/main" id="{DD6B6433-CCD9-42F6-83C5-76BCAA8FE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3" name="Parallelogram 15">
            <a:extLst>
              <a:ext uri="{FF2B5EF4-FFF2-40B4-BE49-F238E27FC236}">
                <a16:creationId xmlns:a16="http://schemas.microsoft.com/office/drawing/2014/main" id="{442B55CB-F27D-4C06-89E5-4EC99A519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4188" y="0"/>
            <a:ext cx="93726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48527540-7F01-4C2E-9641-738882048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9">
            <a:extLst>
              <a:ext uri="{FF2B5EF4-FFF2-40B4-BE49-F238E27FC236}">
                <a16:creationId xmlns:a16="http://schemas.microsoft.com/office/drawing/2014/main" id="{D6F60FB6-F855-43F0-A752-3719156C1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23">
            <a:extLst>
              <a:ext uri="{FF2B5EF4-FFF2-40B4-BE49-F238E27FC236}">
                <a16:creationId xmlns:a16="http://schemas.microsoft.com/office/drawing/2014/main" id="{70669A81-0E9B-4B42-AFEA-8F672C6C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3BF1BCB-2B12-F2C4-7834-3C0539F1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047" y="609600"/>
            <a:ext cx="6487955" cy="1320800"/>
          </a:xfrm>
        </p:spPr>
        <p:txBody>
          <a:bodyPr anchor="t">
            <a:normAutofit/>
          </a:bodyPr>
          <a:lstStyle/>
          <a:p>
            <a:pPr algn="ctr"/>
            <a:r>
              <a:rPr lang="de-DE" b="1" dirty="0"/>
              <a:t>Agenda</a:t>
            </a:r>
            <a:br>
              <a:rPr lang="de-DE" b="1" dirty="0"/>
            </a:br>
            <a:endParaRPr lang="de-DE" dirty="0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8C93E0C6-CF08-4771-B5A9-6018CB3AE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3" name="Isosceles Triangle 25">
            <a:extLst>
              <a:ext uri="{FF2B5EF4-FFF2-40B4-BE49-F238E27FC236}">
                <a16:creationId xmlns:a16="http://schemas.microsoft.com/office/drawing/2014/main" id="{A011F1B8-62C5-4D08-A621-EAD05C7D6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C6A6AECB-428C-4CB4-B65A-359F08B6D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28D1A6ED-2AB6-46A3-A315-485B8BF93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B61CE46B-8525-46A8-AB7B-DCBCC1B65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4412B991-9935-45FB-A17E-8F30DD832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D57D7A-A39F-1077-6C68-BB6714C06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54444" y="6525362"/>
            <a:ext cx="6297612" cy="365125"/>
          </a:xfrm>
        </p:spPr>
        <p:txBody>
          <a:bodyPr/>
          <a:lstStyle/>
          <a:p>
            <a:r>
              <a:rPr lang="de-DE" dirty="0"/>
              <a:t>Michael Hornung </a:t>
            </a:r>
            <a:r>
              <a:rPr lang="de-DE" dirty="0" err="1"/>
              <a:t>DataSmartPoint</a:t>
            </a:r>
            <a:r>
              <a:rPr lang="de-DE" dirty="0"/>
              <a:t> Projektarbeit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DC827C-ECBF-82EE-2AB7-839D3F7F1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6080" y="6257672"/>
            <a:ext cx="683339" cy="365125"/>
          </a:xfrm>
        </p:spPr>
        <p:txBody>
          <a:bodyPr/>
          <a:lstStyle/>
          <a:p>
            <a:fld id="{A3975479-B7B4-4155-BCBC-D37B4519C2C2}" type="slidenum">
              <a:rPr lang="de-DE" sz="2000" b="1" smtClean="0">
                <a:solidFill>
                  <a:schemeClr val="tx1"/>
                </a:solidFill>
              </a:rPr>
              <a:t>2</a:t>
            </a:fld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FADC45A3-5573-A95A-BA64-953DCF12C7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24491" y="1476781"/>
            <a:ext cx="4614229" cy="4190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Ziel &amp; Datenbasis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Modellstruktur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Intakes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Outcomes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Adoptionen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Euthanasien</a:t>
            </a:r>
            <a:endParaRPr kumimoji="0" lang="de-DE" altLang="de-DE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Gesundheit &amp; Altersgruppen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Zeitliche Entwicklung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Erkenntnisse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Fazit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38FD6DB1-B38D-46BF-4458-3C8BEBBA0EF8}"/>
              </a:ext>
            </a:extLst>
          </p:cNvPr>
          <p:cNvSpPr txBox="1"/>
          <p:nvPr/>
        </p:nvSpPr>
        <p:spPr>
          <a:xfrm>
            <a:off x="9676563" y="144273"/>
            <a:ext cx="2388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/>
              <a:t>„</a:t>
            </a:r>
            <a:r>
              <a:rPr lang="de-DE" dirty="0"/>
              <a:t>Eine gute Analyse beginnt mit einer klaren Struktur. </a:t>
            </a:r>
            <a:r>
              <a:rPr lang="de-DE" i="1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278023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38F712-F129-8F0E-E576-21942AA53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E3E53F25-A449-21F5-B0E5-F3BBC4A54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1" t="9091" r="1" b="1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11" name="Isosceles Triangle 13">
            <a:extLst>
              <a:ext uri="{FF2B5EF4-FFF2-40B4-BE49-F238E27FC236}">
                <a16:creationId xmlns:a16="http://schemas.microsoft.com/office/drawing/2014/main" id="{38F5A407-0473-CD23-6FBB-B6E02F395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3" name="Parallelogram 15">
            <a:extLst>
              <a:ext uri="{FF2B5EF4-FFF2-40B4-BE49-F238E27FC236}">
                <a16:creationId xmlns:a16="http://schemas.microsoft.com/office/drawing/2014/main" id="{09BBABFB-3386-78CA-F3C6-D54228747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4188" y="0"/>
            <a:ext cx="93726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3401EDF9-5B9D-86E5-4078-BF6316AC8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9">
            <a:extLst>
              <a:ext uri="{FF2B5EF4-FFF2-40B4-BE49-F238E27FC236}">
                <a16:creationId xmlns:a16="http://schemas.microsoft.com/office/drawing/2014/main" id="{C2F793A6-6182-1D16-642A-ED22A6F4B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23">
            <a:extLst>
              <a:ext uri="{FF2B5EF4-FFF2-40B4-BE49-F238E27FC236}">
                <a16:creationId xmlns:a16="http://schemas.microsoft.com/office/drawing/2014/main" id="{B27419D0-3177-F02A-9F4E-770FFE96B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6D01A0E-C33B-2426-280D-0623F51B9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047" y="609600"/>
            <a:ext cx="6487955" cy="1320800"/>
          </a:xfrm>
        </p:spPr>
        <p:txBody>
          <a:bodyPr anchor="t">
            <a:normAutofit/>
          </a:bodyPr>
          <a:lstStyle/>
          <a:p>
            <a:pPr algn="ctr"/>
            <a:r>
              <a:rPr lang="de-DE" b="1" dirty="0"/>
              <a:t>Ziel &amp; Datenbasis</a:t>
            </a:r>
            <a:br>
              <a:rPr lang="de-DE" b="1" dirty="0"/>
            </a:br>
            <a:endParaRPr lang="de-DE" dirty="0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68E060B9-D5CE-0CA7-9FA6-1BCA91494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3" name="Isosceles Triangle 25">
            <a:extLst>
              <a:ext uri="{FF2B5EF4-FFF2-40B4-BE49-F238E27FC236}">
                <a16:creationId xmlns:a16="http://schemas.microsoft.com/office/drawing/2014/main" id="{8A8B6BD9-AB64-8B44-FFA5-869BB39E4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37D9AD1E-61C5-10BD-252E-1BB93C0B2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624C5EAF-0CF7-B9A5-D0AC-A599B076A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12F3A710-4E64-9569-7D7F-E7984082F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743A82B9-2482-5E50-4650-F5B7BD510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12E01E7-13D1-DC7A-C3A1-B82AD171E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54444" y="6525362"/>
            <a:ext cx="6297612" cy="365125"/>
          </a:xfrm>
        </p:spPr>
        <p:txBody>
          <a:bodyPr/>
          <a:lstStyle/>
          <a:p>
            <a:r>
              <a:rPr lang="de-DE" dirty="0"/>
              <a:t>Michael Hornung </a:t>
            </a:r>
            <a:r>
              <a:rPr lang="de-DE" dirty="0" err="1"/>
              <a:t>DataSmartPoint</a:t>
            </a:r>
            <a:r>
              <a:rPr lang="de-DE" dirty="0"/>
              <a:t> Projektarbeit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301FA6-6A6E-8A78-DA02-D745BCD5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6080" y="6257672"/>
            <a:ext cx="683339" cy="365125"/>
          </a:xfrm>
        </p:spPr>
        <p:txBody>
          <a:bodyPr/>
          <a:lstStyle/>
          <a:p>
            <a:fld id="{A3975479-B7B4-4155-BCBC-D37B4519C2C2}" type="slidenum">
              <a:rPr lang="de-DE" sz="2000" b="1" smtClean="0">
                <a:solidFill>
                  <a:schemeClr val="tx1"/>
                </a:solidFill>
              </a:rPr>
              <a:t>3</a:t>
            </a:fld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A72D1A07-E666-17B4-9780-CC51242E0106}"/>
              </a:ext>
            </a:extLst>
          </p:cNvPr>
          <p:cNvSpPr txBox="1"/>
          <p:nvPr/>
        </p:nvSpPr>
        <p:spPr>
          <a:xfrm>
            <a:off x="9676563" y="144273"/>
            <a:ext cx="2388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/>
              <a:t>„</a:t>
            </a:r>
            <a:r>
              <a:rPr lang="de-DE" dirty="0"/>
              <a:t>Ein klarer Plan macht jedes Datenset lesbar. </a:t>
            </a:r>
            <a:r>
              <a:rPr lang="de-DE" i="1" dirty="0"/>
              <a:t>“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215173D-2C3E-96AD-09DD-943F59F542DD}"/>
              </a:ext>
            </a:extLst>
          </p:cNvPr>
          <p:cNvSpPr txBox="1"/>
          <p:nvPr/>
        </p:nvSpPr>
        <p:spPr>
          <a:xfrm>
            <a:off x="2917998" y="1559592"/>
            <a:ext cx="5994201" cy="1720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200" b="1" dirty="0"/>
              <a:t>Am Anfang stand nur eine einzige, flache Datentabelle – Tausende Zeilen, ohne Struktur.</a:t>
            </a:r>
            <a:br>
              <a:rPr lang="de-DE" sz="1200" b="1" dirty="0"/>
            </a:br>
            <a:r>
              <a:rPr lang="de-DE" sz="1200" b="1" dirty="0"/>
              <a:t>Wir haben sie aufgeteilt, bereinigt und zu einem sauberen Datenmodell aufgebaut.</a:t>
            </a:r>
            <a:br>
              <a:rPr lang="de-DE" sz="1200" b="1" dirty="0"/>
            </a:br>
            <a:r>
              <a:rPr lang="de-DE" sz="1200" b="1" dirty="0"/>
              <a:t>Das Ziel: Die Abläufe im Austin Animal Center besser verstehen – von der Aufnahme bis zur Vermittlung.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B2C22D6F-55A0-1681-56DD-A44A305F4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626" y="3271154"/>
            <a:ext cx="4442817" cy="321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46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9A027-F758-50A7-1676-F5592966D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1F94A897-BE54-8D32-64DC-E699AA0F1D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1" t="9091" r="1" b="1"/>
          <a:stretch>
            <a:fillRect/>
          </a:stretch>
        </p:blipFill>
        <p:spPr>
          <a:xfrm>
            <a:off x="1" y="-8467"/>
            <a:ext cx="12191999" cy="6857990"/>
          </a:xfrm>
          <a:prstGeom prst="rect">
            <a:avLst/>
          </a:prstGeom>
        </p:spPr>
      </p:pic>
      <p:sp>
        <p:nvSpPr>
          <p:cNvPr id="11" name="Isosceles Triangle 13">
            <a:extLst>
              <a:ext uri="{FF2B5EF4-FFF2-40B4-BE49-F238E27FC236}">
                <a16:creationId xmlns:a16="http://schemas.microsoft.com/office/drawing/2014/main" id="{68CAB0EB-7CC5-E3EA-FCA9-BCF8A8750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3" name="Parallelogram 15">
            <a:extLst>
              <a:ext uri="{FF2B5EF4-FFF2-40B4-BE49-F238E27FC236}">
                <a16:creationId xmlns:a16="http://schemas.microsoft.com/office/drawing/2014/main" id="{8B28B2FB-CC78-A58E-FC23-929266410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4188" y="0"/>
            <a:ext cx="93726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B8817C7E-3968-2789-E42E-3F81D01E5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9">
            <a:extLst>
              <a:ext uri="{FF2B5EF4-FFF2-40B4-BE49-F238E27FC236}">
                <a16:creationId xmlns:a16="http://schemas.microsoft.com/office/drawing/2014/main" id="{DCF8F9B4-2698-BF72-8486-62857B618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23">
            <a:extLst>
              <a:ext uri="{FF2B5EF4-FFF2-40B4-BE49-F238E27FC236}">
                <a16:creationId xmlns:a16="http://schemas.microsoft.com/office/drawing/2014/main" id="{C98839FF-F3FD-F27B-9B45-AECFAE88A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EC49E22-E8E9-9CDC-17E8-EC76F8F08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047" y="609600"/>
            <a:ext cx="6487955" cy="1320800"/>
          </a:xfrm>
        </p:spPr>
        <p:txBody>
          <a:bodyPr anchor="t">
            <a:normAutofit/>
          </a:bodyPr>
          <a:lstStyle/>
          <a:p>
            <a:pPr algn="ctr"/>
            <a:r>
              <a:rPr lang="de-DE" dirty="0"/>
              <a:t>Aufbau des Datenmodells</a:t>
            </a:r>
            <a:br>
              <a:rPr lang="de-DE" b="1" dirty="0"/>
            </a:br>
            <a:endParaRPr lang="de-DE" dirty="0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79CB331D-4C09-E970-9139-333BF2166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3" name="Isosceles Triangle 25">
            <a:extLst>
              <a:ext uri="{FF2B5EF4-FFF2-40B4-BE49-F238E27FC236}">
                <a16:creationId xmlns:a16="http://schemas.microsoft.com/office/drawing/2014/main" id="{54819A69-9901-BB3B-79B0-49A5645DB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186FE0AD-76EA-540F-DB09-1C15C4673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85891D05-704F-3A90-FF52-9A2BB192D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8CD5C3BE-524C-CFEC-458D-D84899EA9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F60DD875-4B67-AF5E-12AA-8FF1B31A2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DA49857-B03F-C6F3-3DA3-79A04ACBC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54444" y="6525362"/>
            <a:ext cx="6297612" cy="365125"/>
          </a:xfrm>
        </p:spPr>
        <p:txBody>
          <a:bodyPr/>
          <a:lstStyle/>
          <a:p>
            <a:r>
              <a:rPr lang="de-DE" dirty="0"/>
              <a:t>Michael Hornung </a:t>
            </a:r>
            <a:r>
              <a:rPr lang="de-DE" dirty="0" err="1"/>
              <a:t>DataSmartPoint</a:t>
            </a:r>
            <a:r>
              <a:rPr lang="de-DE" dirty="0"/>
              <a:t> Projektarbeit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D18F3C-2D4D-3A92-27A4-6C5207553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6080" y="6257672"/>
            <a:ext cx="683339" cy="365125"/>
          </a:xfrm>
        </p:spPr>
        <p:txBody>
          <a:bodyPr/>
          <a:lstStyle/>
          <a:p>
            <a:fld id="{A3975479-B7B4-4155-BCBC-D37B4519C2C2}" type="slidenum">
              <a:rPr lang="de-DE" sz="2000" b="1" smtClean="0">
                <a:solidFill>
                  <a:schemeClr val="tx1"/>
                </a:solidFill>
              </a:rPr>
              <a:t>4</a:t>
            </a:fld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5B0B47FB-59CF-7F1E-6F17-BAF79D385238}"/>
              </a:ext>
            </a:extLst>
          </p:cNvPr>
          <p:cNvSpPr txBox="1"/>
          <p:nvPr/>
        </p:nvSpPr>
        <p:spPr>
          <a:xfrm>
            <a:off x="9676563" y="144273"/>
            <a:ext cx="2388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/>
              <a:t>„</a:t>
            </a:r>
            <a:r>
              <a:rPr lang="de-DE" dirty="0"/>
              <a:t>Ein gutes Modell denkt mit – bevor man fragt. </a:t>
            </a:r>
            <a:r>
              <a:rPr lang="de-DE" i="1" dirty="0"/>
              <a:t>“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3D8DCEF-497B-0414-3AF8-391B0582EA9A}"/>
              </a:ext>
            </a:extLst>
          </p:cNvPr>
          <p:cNvSpPr txBox="1"/>
          <p:nvPr/>
        </p:nvSpPr>
        <p:spPr>
          <a:xfrm>
            <a:off x="2737540" y="1791017"/>
            <a:ext cx="6297611" cy="1720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200" b="1" dirty="0"/>
              <a:t>Das Datenmodell besteht aus einer zentralen Faktentabelle mit allen Ereignissen und zwei Dimensionen:– </a:t>
            </a:r>
            <a:r>
              <a:rPr lang="de-DE" sz="1200" b="1" dirty="0" err="1"/>
              <a:t>dim_animal</a:t>
            </a:r>
            <a:r>
              <a:rPr lang="de-DE" sz="1200" b="1" dirty="0"/>
              <a:t>: Informationen zu Art, Alter, Geschlecht und Status– </a:t>
            </a:r>
            <a:r>
              <a:rPr lang="de-DE" sz="1200" b="1" dirty="0" err="1"/>
              <a:t>dim_date</a:t>
            </a:r>
            <a:r>
              <a:rPr lang="de-DE" sz="1200" b="1" dirty="0"/>
              <a:t>: Zeitliche Einordnung aller Vorgänge.</a:t>
            </a:r>
          </a:p>
          <a:p>
            <a:pPr>
              <a:lnSpc>
                <a:spcPct val="150000"/>
              </a:lnSpc>
            </a:pPr>
            <a:endParaRPr lang="de-DE" sz="1200" b="1" dirty="0"/>
          </a:p>
          <a:p>
            <a:pPr>
              <a:lnSpc>
                <a:spcPct val="150000"/>
              </a:lnSpc>
            </a:pPr>
            <a:r>
              <a:rPr lang="de-DE" sz="1200" b="1" dirty="0"/>
              <a:t>Diese Struktur erlaubt klare Auswertungen zu Trends, Quoten und Entwicklungen über mehrere Jahre hinweg.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88712503-8F4F-EE27-C1EB-1C502C41A6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3290381"/>
                  </p:ext>
                </p:extLst>
              </p:nvPr>
            </p:nvGraphicFramePr>
            <p:xfrm>
              <a:off x="3385788" y="3721407"/>
              <a:ext cx="5025618" cy="257679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88712503-8F4F-EE27-C1EB-1C502C41A6A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85788" y="3721407"/>
                <a:ext cx="5025618" cy="257679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2000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B64350-088B-EA74-E7E4-6F4986D27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F2463E5D-7E8A-1A64-4A5F-8EA728C8C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1" t="9091" r="1" b="1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11" name="Isosceles Triangle 13">
            <a:extLst>
              <a:ext uri="{FF2B5EF4-FFF2-40B4-BE49-F238E27FC236}">
                <a16:creationId xmlns:a16="http://schemas.microsoft.com/office/drawing/2014/main" id="{22683085-31EB-6394-5716-1068C011C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3" name="Parallelogram 15">
            <a:extLst>
              <a:ext uri="{FF2B5EF4-FFF2-40B4-BE49-F238E27FC236}">
                <a16:creationId xmlns:a16="http://schemas.microsoft.com/office/drawing/2014/main" id="{D121D72F-600F-7DAA-2EAE-FCEDAC97A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4188" y="0"/>
            <a:ext cx="93726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E3D58C4B-D3C3-384E-E973-FDED792B4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9">
            <a:extLst>
              <a:ext uri="{FF2B5EF4-FFF2-40B4-BE49-F238E27FC236}">
                <a16:creationId xmlns:a16="http://schemas.microsoft.com/office/drawing/2014/main" id="{35A46795-EB6B-5041-54C4-0DD21FDAC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23">
            <a:extLst>
              <a:ext uri="{FF2B5EF4-FFF2-40B4-BE49-F238E27FC236}">
                <a16:creationId xmlns:a16="http://schemas.microsoft.com/office/drawing/2014/main" id="{18361821-6821-20B7-B89A-A381A024D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66CFC54-DE57-9CFF-5B1D-00974D889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047" y="609600"/>
            <a:ext cx="6487955" cy="1320800"/>
          </a:xfrm>
        </p:spPr>
        <p:txBody>
          <a:bodyPr anchor="t">
            <a:normAutofit fontScale="90000"/>
          </a:bodyPr>
          <a:lstStyle/>
          <a:p>
            <a:pPr algn="ctr"/>
            <a:r>
              <a:rPr lang="de-DE" b="1" dirty="0"/>
              <a:t>Übersicht: </a:t>
            </a:r>
            <a:r>
              <a:rPr lang="de-DE" b="1" dirty="0" err="1"/>
              <a:t>Intakes</a:t>
            </a:r>
            <a:r>
              <a:rPr lang="de-DE" b="1" dirty="0"/>
              <a:t> &amp; Outcomes</a:t>
            </a:r>
            <a:br>
              <a:rPr lang="de-DE" b="1" dirty="0"/>
            </a:br>
            <a:endParaRPr lang="de-DE" dirty="0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F54A7E98-12A3-5CBF-0E5C-6942EBA74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3" name="Isosceles Triangle 25">
            <a:extLst>
              <a:ext uri="{FF2B5EF4-FFF2-40B4-BE49-F238E27FC236}">
                <a16:creationId xmlns:a16="http://schemas.microsoft.com/office/drawing/2014/main" id="{96CBAB25-35B4-540C-6B44-271D31170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58666EF0-6EFA-013C-E331-71563CE04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19FC0585-09AF-A65C-2067-AA36F68F5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34C68F4E-A734-93C5-E1A6-B10190742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ED74AA69-11B8-F685-7F73-3C841058A2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F0784F-49CB-ACEC-CA39-8E04F1B88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54444" y="6525362"/>
            <a:ext cx="6297612" cy="365125"/>
          </a:xfrm>
        </p:spPr>
        <p:txBody>
          <a:bodyPr/>
          <a:lstStyle/>
          <a:p>
            <a:r>
              <a:rPr lang="de-DE" dirty="0"/>
              <a:t>Michael Hornung </a:t>
            </a:r>
            <a:r>
              <a:rPr lang="de-DE" dirty="0" err="1"/>
              <a:t>DataSmartPoint</a:t>
            </a:r>
            <a:r>
              <a:rPr lang="de-DE" dirty="0"/>
              <a:t> Projektarbeit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B5CA13-D935-08A1-8F4A-AE229DBAF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6080" y="6257672"/>
            <a:ext cx="683339" cy="365125"/>
          </a:xfrm>
        </p:spPr>
        <p:txBody>
          <a:bodyPr/>
          <a:lstStyle/>
          <a:p>
            <a:fld id="{A3975479-B7B4-4155-BCBC-D37B4519C2C2}" type="slidenum">
              <a:rPr lang="de-DE" sz="2000" b="1" smtClean="0">
                <a:solidFill>
                  <a:schemeClr val="tx1"/>
                </a:solidFill>
              </a:rPr>
              <a:t>5</a:t>
            </a:fld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6C40D6C7-66BB-6584-4A43-884620009FFD}"/>
              </a:ext>
            </a:extLst>
          </p:cNvPr>
          <p:cNvSpPr txBox="1"/>
          <p:nvPr/>
        </p:nvSpPr>
        <p:spPr>
          <a:xfrm>
            <a:off x="9676563" y="144273"/>
            <a:ext cx="2388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/>
              <a:t>„</a:t>
            </a:r>
            <a:r>
              <a:rPr lang="de-DE" dirty="0"/>
              <a:t>Zahlen werden erst wertvoll, wenn man sie in Beziehung setzt. </a:t>
            </a:r>
            <a:r>
              <a:rPr lang="de-DE" i="1" dirty="0"/>
              <a:t>“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024CB23-FB4A-882A-CE67-9463CF011902}"/>
              </a:ext>
            </a:extLst>
          </p:cNvPr>
          <p:cNvSpPr txBox="1"/>
          <p:nvPr/>
        </p:nvSpPr>
        <p:spPr>
          <a:xfrm>
            <a:off x="2634722" y="1224303"/>
            <a:ext cx="6297611" cy="2274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200" b="1" dirty="0"/>
              <a:t>Insgesamt wurden von 2013 bis 2018 rund 79 637 Tiere im Center aufgenommen.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Davon: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– 42 % Adoptionen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– 7,8 % </a:t>
            </a:r>
            <a:r>
              <a:rPr lang="de-DE" sz="1200" b="1" dirty="0" err="1"/>
              <a:t>Euthanasien</a:t>
            </a:r>
            <a:endParaRPr lang="de-DE" sz="1200" b="1" dirty="0"/>
          </a:p>
          <a:p>
            <a:pPr>
              <a:lnSpc>
                <a:spcPct val="150000"/>
              </a:lnSpc>
            </a:pPr>
            <a:r>
              <a:rPr lang="de-DE" sz="1200" b="1" dirty="0"/>
              <a:t>– 50 % andere Outcomes.</a:t>
            </a:r>
          </a:p>
          <a:p>
            <a:pPr>
              <a:lnSpc>
                <a:spcPct val="150000"/>
              </a:lnSpc>
            </a:pPr>
            <a:endParaRPr lang="de-DE" sz="1200" b="1" dirty="0"/>
          </a:p>
          <a:p>
            <a:pPr>
              <a:lnSpc>
                <a:spcPct val="150000"/>
              </a:lnSpc>
            </a:pPr>
            <a:r>
              <a:rPr lang="de-DE" sz="1200" b="1" dirty="0"/>
              <a:t>Diese Kennzahlen bilden den Kern des gesamten Systems: Sie zeigen, wie viele Tiere kommen, gehen oder bleiben.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83D8975-541F-281D-55D5-97C4A5691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7650" y="4208602"/>
            <a:ext cx="6950042" cy="8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339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BDE2C1-42DE-EAE8-5A66-9F9CB369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7F218A9-B37A-FC29-A027-55BC72A693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1" t="9091" r="1" b="1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11" name="Isosceles Triangle 13">
            <a:extLst>
              <a:ext uri="{FF2B5EF4-FFF2-40B4-BE49-F238E27FC236}">
                <a16:creationId xmlns:a16="http://schemas.microsoft.com/office/drawing/2014/main" id="{137CEF5B-1F34-5864-D2F0-2E47AE578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3" name="Parallelogram 15">
            <a:extLst>
              <a:ext uri="{FF2B5EF4-FFF2-40B4-BE49-F238E27FC236}">
                <a16:creationId xmlns:a16="http://schemas.microsoft.com/office/drawing/2014/main" id="{C6231400-1E8E-7C14-8DA3-0F20521FD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4188" y="0"/>
            <a:ext cx="93726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48D241E5-91A3-3ED4-32E3-B5E94490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9">
            <a:extLst>
              <a:ext uri="{FF2B5EF4-FFF2-40B4-BE49-F238E27FC236}">
                <a16:creationId xmlns:a16="http://schemas.microsoft.com/office/drawing/2014/main" id="{2DCBEBAE-2462-71CA-469E-8E11D6501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23">
            <a:extLst>
              <a:ext uri="{FF2B5EF4-FFF2-40B4-BE49-F238E27FC236}">
                <a16:creationId xmlns:a16="http://schemas.microsoft.com/office/drawing/2014/main" id="{9AD6C886-AD61-B721-FEB6-E7287122E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822FBD2-D6F7-A80D-41A5-E61B3A646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047" y="609600"/>
            <a:ext cx="6487955" cy="1320800"/>
          </a:xfrm>
        </p:spPr>
        <p:txBody>
          <a:bodyPr anchor="t">
            <a:normAutofit/>
          </a:bodyPr>
          <a:lstStyle/>
          <a:p>
            <a:pPr algn="ctr"/>
            <a:r>
              <a:rPr lang="de-DE" b="1" dirty="0"/>
              <a:t>Adoptionen (Überblick)</a:t>
            </a:r>
            <a:br>
              <a:rPr lang="de-DE" b="1" dirty="0"/>
            </a:br>
            <a:endParaRPr lang="de-DE" dirty="0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7A73FF3E-E7B6-D861-42A4-C4C59782A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3" name="Isosceles Triangle 25">
            <a:extLst>
              <a:ext uri="{FF2B5EF4-FFF2-40B4-BE49-F238E27FC236}">
                <a16:creationId xmlns:a16="http://schemas.microsoft.com/office/drawing/2014/main" id="{95620C1A-C59A-0BDB-A24A-7AF64B8B5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E35B55E4-0A5C-856B-1585-9FF11331A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05F20A44-47E0-8BFD-0F39-02D62B923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CC004CCC-00F5-8DE6-9594-896052D3B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E675FF22-4FE2-65E6-96F7-E0A2BFEEF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10150D-E634-9E34-F01F-78A0FBD4A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54444" y="6525362"/>
            <a:ext cx="6297612" cy="365125"/>
          </a:xfrm>
        </p:spPr>
        <p:txBody>
          <a:bodyPr/>
          <a:lstStyle/>
          <a:p>
            <a:r>
              <a:rPr lang="de-DE" dirty="0"/>
              <a:t>Michael Hornung </a:t>
            </a:r>
            <a:r>
              <a:rPr lang="de-DE" dirty="0" err="1"/>
              <a:t>DataSmartPoint</a:t>
            </a:r>
            <a:r>
              <a:rPr lang="de-DE" dirty="0"/>
              <a:t> Projektarbeit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5525086-6CA7-DD6A-CE06-2B53B76B3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6080" y="6257672"/>
            <a:ext cx="683339" cy="365125"/>
          </a:xfrm>
        </p:spPr>
        <p:txBody>
          <a:bodyPr/>
          <a:lstStyle/>
          <a:p>
            <a:fld id="{A3975479-B7B4-4155-BCBC-D37B4519C2C2}" type="slidenum">
              <a:rPr lang="de-DE" sz="2000" b="1" smtClean="0">
                <a:solidFill>
                  <a:schemeClr val="tx1"/>
                </a:solidFill>
              </a:rPr>
              <a:t>6</a:t>
            </a:fld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05F351C1-3119-304E-6A4C-449F4D36D0D4}"/>
              </a:ext>
            </a:extLst>
          </p:cNvPr>
          <p:cNvSpPr txBox="1"/>
          <p:nvPr/>
        </p:nvSpPr>
        <p:spPr>
          <a:xfrm>
            <a:off x="9676563" y="144273"/>
            <a:ext cx="2388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/>
              <a:t>„</a:t>
            </a:r>
            <a:r>
              <a:rPr lang="de-DE" dirty="0"/>
              <a:t>Daten zeigen, wann Herzen offen stehen.</a:t>
            </a:r>
            <a:r>
              <a:rPr lang="de-DE" i="1" dirty="0"/>
              <a:t>“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3906169-3C76-F079-DBAA-A6EB180D73FA}"/>
              </a:ext>
            </a:extLst>
          </p:cNvPr>
          <p:cNvSpPr txBox="1"/>
          <p:nvPr/>
        </p:nvSpPr>
        <p:spPr>
          <a:xfrm>
            <a:off x="2682605" y="1494161"/>
            <a:ext cx="6297611" cy="889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200" b="1" dirty="0"/>
              <a:t>Über 34 000 Tiere fanden ein neues Zuhause.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Adoptionen sind am Wochenende am höchsten – besonders samstags.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Die Daten zeigen, wann Vermittlungsaktionen den größten Erfolg haben.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579993E9-69C7-A066-2D3A-C5E93A9BC9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8357981"/>
                  </p:ext>
                </p:extLst>
              </p:nvPr>
            </p:nvGraphicFramePr>
            <p:xfrm>
              <a:off x="2891254" y="2791664"/>
              <a:ext cx="6297613" cy="286194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579993E9-69C7-A066-2D3A-C5E93A9BC9B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91254" y="2791664"/>
                <a:ext cx="6297613" cy="286194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810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E4E8B-929F-4D9F-77D9-5369D4167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F01B04C-F1C4-1142-8ABC-6DC03C623B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1" t="9091" r="1" b="1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11" name="Isosceles Triangle 13">
            <a:extLst>
              <a:ext uri="{FF2B5EF4-FFF2-40B4-BE49-F238E27FC236}">
                <a16:creationId xmlns:a16="http://schemas.microsoft.com/office/drawing/2014/main" id="{FBC0AACF-E6E2-F193-12AA-344889706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3" name="Parallelogram 15">
            <a:extLst>
              <a:ext uri="{FF2B5EF4-FFF2-40B4-BE49-F238E27FC236}">
                <a16:creationId xmlns:a16="http://schemas.microsoft.com/office/drawing/2014/main" id="{901C6168-55EC-8F5B-F88A-1D1B41E6D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4188" y="0"/>
            <a:ext cx="93726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A018A1C3-AE47-6075-B38B-4314E45CC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9">
            <a:extLst>
              <a:ext uri="{FF2B5EF4-FFF2-40B4-BE49-F238E27FC236}">
                <a16:creationId xmlns:a16="http://schemas.microsoft.com/office/drawing/2014/main" id="{39C43949-EC86-D9B8-54D6-631508C56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23">
            <a:extLst>
              <a:ext uri="{FF2B5EF4-FFF2-40B4-BE49-F238E27FC236}">
                <a16:creationId xmlns:a16="http://schemas.microsoft.com/office/drawing/2014/main" id="{E68359D7-52D7-06F2-1DBA-1872B7375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A66D3D6-F9D9-7B98-3EFC-A91EB2A67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047" y="609600"/>
            <a:ext cx="6487955" cy="1320800"/>
          </a:xfrm>
        </p:spPr>
        <p:txBody>
          <a:bodyPr anchor="t">
            <a:normAutofit/>
          </a:bodyPr>
          <a:lstStyle/>
          <a:p>
            <a:pPr algn="ctr"/>
            <a:r>
              <a:rPr lang="de-DE" dirty="0"/>
              <a:t>Adoptionen im Zeitverlauf</a:t>
            </a:r>
            <a:br>
              <a:rPr lang="de-DE" b="1" dirty="0"/>
            </a:br>
            <a:endParaRPr lang="de-DE" dirty="0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586DCD58-FDF5-8549-1BA3-8A41A378B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3" name="Isosceles Triangle 25">
            <a:extLst>
              <a:ext uri="{FF2B5EF4-FFF2-40B4-BE49-F238E27FC236}">
                <a16:creationId xmlns:a16="http://schemas.microsoft.com/office/drawing/2014/main" id="{7DBF655E-6F4B-EC1D-AA75-23C2CE6C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38ADDF00-28B2-93E7-5616-90ECA4915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83B91C06-04AD-489A-D52C-109960B56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DFBC40A9-F1A5-8297-397B-EA1F5BA957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C863EE80-85DE-F649-AB90-4CBA1D79B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EB8829-C973-BD90-5978-DDED79145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54444" y="6525362"/>
            <a:ext cx="6297612" cy="365125"/>
          </a:xfrm>
        </p:spPr>
        <p:txBody>
          <a:bodyPr/>
          <a:lstStyle/>
          <a:p>
            <a:r>
              <a:rPr lang="de-DE" dirty="0"/>
              <a:t>Michael Hornung </a:t>
            </a:r>
            <a:r>
              <a:rPr lang="de-DE" dirty="0" err="1"/>
              <a:t>DataSmartPoint</a:t>
            </a:r>
            <a:r>
              <a:rPr lang="de-DE" dirty="0"/>
              <a:t> Projektarbeit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C3AD5B-C1D8-76CD-D4AF-98C157E44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6080" y="6257672"/>
            <a:ext cx="683339" cy="365125"/>
          </a:xfrm>
        </p:spPr>
        <p:txBody>
          <a:bodyPr/>
          <a:lstStyle/>
          <a:p>
            <a:fld id="{A3975479-B7B4-4155-BCBC-D37B4519C2C2}" type="slidenum">
              <a:rPr lang="de-DE" sz="2000" b="1" smtClean="0">
                <a:solidFill>
                  <a:schemeClr val="tx1"/>
                </a:solidFill>
              </a:rPr>
              <a:t>7</a:t>
            </a:fld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C798075E-9089-8822-7009-DAD71C8EB8B2}"/>
              </a:ext>
            </a:extLst>
          </p:cNvPr>
          <p:cNvSpPr txBox="1"/>
          <p:nvPr/>
        </p:nvSpPr>
        <p:spPr>
          <a:xfrm>
            <a:off x="9676563" y="144273"/>
            <a:ext cx="2388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/>
              <a:t>„</a:t>
            </a:r>
            <a:r>
              <a:rPr lang="de-DE" dirty="0"/>
              <a:t>Wer Muster erkennt, kann Zukunft planen. </a:t>
            </a:r>
            <a:r>
              <a:rPr lang="de-DE" i="1" dirty="0"/>
              <a:t>“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4062960-36B1-0A6D-096D-1E4B8D526911}"/>
              </a:ext>
            </a:extLst>
          </p:cNvPr>
          <p:cNvSpPr txBox="1"/>
          <p:nvPr/>
        </p:nvSpPr>
        <p:spPr>
          <a:xfrm>
            <a:off x="2682605" y="1494161"/>
            <a:ext cx="6297611" cy="889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200" b="1" dirty="0"/>
              <a:t>Die Adoptionsrate folgt einem klaren Jahresrhythmus: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Im Sommer steigen die Vermittlungen stark an, im Winter sinken sie leicht.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Diese saisonale Dynamik hilft, Personal und Ressourcen gezielter zu planen.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8" name="Add-In 7" title="Microsoft Power BI">
                <a:extLst>
                  <a:ext uri="{FF2B5EF4-FFF2-40B4-BE49-F238E27FC236}">
                    <a16:creationId xmlns:a16="http://schemas.microsoft.com/office/drawing/2014/main" id="{6F3B5278-B87A-514C-F9A4-C08A6A4338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4235114"/>
                  </p:ext>
                </p:extLst>
              </p:nvPr>
            </p:nvGraphicFramePr>
            <p:xfrm>
              <a:off x="3161931" y="2803016"/>
              <a:ext cx="5189918" cy="3266716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8" name="Add-In 7" title="Microsoft Power BI">
                <a:extLst>
                  <a:ext uri="{FF2B5EF4-FFF2-40B4-BE49-F238E27FC236}">
                    <a16:creationId xmlns:a16="http://schemas.microsoft.com/office/drawing/2014/main" id="{6F3B5278-B87A-514C-F9A4-C08A6A43381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61931" y="2803016"/>
                <a:ext cx="5189918" cy="326671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496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6CEB07-7DB5-3532-4372-DF212D5A0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215610F-1A9A-C443-9A29-2B3B00A525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1" t="9091" r="1" b="1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11" name="Isosceles Triangle 13">
            <a:extLst>
              <a:ext uri="{FF2B5EF4-FFF2-40B4-BE49-F238E27FC236}">
                <a16:creationId xmlns:a16="http://schemas.microsoft.com/office/drawing/2014/main" id="{CDB8E8A5-1811-2D62-AD95-C08954470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3" name="Parallelogram 15">
            <a:extLst>
              <a:ext uri="{FF2B5EF4-FFF2-40B4-BE49-F238E27FC236}">
                <a16:creationId xmlns:a16="http://schemas.microsoft.com/office/drawing/2014/main" id="{7E097483-D8DC-F273-6B28-E755692D5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4188" y="0"/>
            <a:ext cx="93726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B77C0298-2105-D4A3-BF71-BAAF3B9E0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9">
            <a:extLst>
              <a:ext uri="{FF2B5EF4-FFF2-40B4-BE49-F238E27FC236}">
                <a16:creationId xmlns:a16="http://schemas.microsoft.com/office/drawing/2014/main" id="{E3CC37A0-96ED-E084-1D9F-8EC1645BC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23">
            <a:extLst>
              <a:ext uri="{FF2B5EF4-FFF2-40B4-BE49-F238E27FC236}">
                <a16:creationId xmlns:a16="http://schemas.microsoft.com/office/drawing/2014/main" id="{DEA0F3A4-8814-2DB7-5EC3-E37B2C7A4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FA58DEE-9BC4-4102-67C9-FEB54A491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047" y="609600"/>
            <a:ext cx="6487955" cy="1320800"/>
          </a:xfrm>
        </p:spPr>
        <p:txBody>
          <a:bodyPr anchor="t">
            <a:normAutofit/>
          </a:bodyPr>
          <a:lstStyle/>
          <a:p>
            <a:pPr algn="ctr"/>
            <a:r>
              <a:rPr lang="de-DE" dirty="0"/>
              <a:t>Euthanasie (Überblick)</a:t>
            </a:r>
            <a:br>
              <a:rPr lang="de-DE" b="1" dirty="0"/>
            </a:br>
            <a:endParaRPr lang="de-DE" dirty="0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836BF05C-1061-3D24-211A-044356A3C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3" name="Isosceles Triangle 25">
            <a:extLst>
              <a:ext uri="{FF2B5EF4-FFF2-40B4-BE49-F238E27FC236}">
                <a16:creationId xmlns:a16="http://schemas.microsoft.com/office/drawing/2014/main" id="{57880FB7-AB18-940A-4B46-706FC8887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4A215F83-40AB-43EA-765E-59405595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F43DA2BF-E707-6B7C-3FAA-B5385A431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2359FD2F-2B04-F4D5-BE7A-D312712F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9DA693E8-D9B7-0D7F-6829-85F5739A29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F3B80BB-E668-54CE-B62F-1B89BCFBE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54444" y="6525362"/>
            <a:ext cx="6297612" cy="365125"/>
          </a:xfrm>
        </p:spPr>
        <p:txBody>
          <a:bodyPr/>
          <a:lstStyle/>
          <a:p>
            <a:r>
              <a:rPr lang="de-DE" dirty="0"/>
              <a:t>Michael Hornung </a:t>
            </a:r>
            <a:r>
              <a:rPr lang="de-DE" dirty="0" err="1"/>
              <a:t>DataSmartPoint</a:t>
            </a:r>
            <a:r>
              <a:rPr lang="de-DE" dirty="0"/>
              <a:t> Projektarbeit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805ED1-C169-3067-672B-88EC12E5D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6080" y="6257672"/>
            <a:ext cx="683339" cy="365125"/>
          </a:xfrm>
        </p:spPr>
        <p:txBody>
          <a:bodyPr/>
          <a:lstStyle/>
          <a:p>
            <a:fld id="{A3975479-B7B4-4155-BCBC-D37B4519C2C2}" type="slidenum">
              <a:rPr lang="de-DE" sz="2000" b="1" smtClean="0">
                <a:solidFill>
                  <a:schemeClr val="tx1"/>
                </a:solidFill>
              </a:rPr>
              <a:t>8</a:t>
            </a:fld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7121A21E-19AA-7D59-0485-55963D46F4A1}"/>
              </a:ext>
            </a:extLst>
          </p:cNvPr>
          <p:cNvSpPr txBox="1"/>
          <p:nvPr/>
        </p:nvSpPr>
        <p:spPr>
          <a:xfrm>
            <a:off x="9676563" y="144273"/>
            <a:ext cx="2388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/>
              <a:t>„</a:t>
            </a:r>
            <a:r>
              <a:rPr lang="de-DE" dirty="0"/>
              <a:t>Zahlen sind neutral – ihre Bedeutung nicht. </a:t>
            </a:r>
            <a:r>
              <a:rPr lang="de-DE" i="1" dirty="0"/>
              <a:t>“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720EC1F-B2DF-936B-7CD6-75B8B74B743F}"/>
              </a:ext>
            </a:extLst>
          </p:cNvPr>
          <p:cNvSpPr txBox="1"/>
          <p:nvPr/>
        </p:nvSpPr>
        <p:spPr>
          <a:xfrm>
            <a:off x="2682605" y="1494161"/>
            <a:ext cx="6297611" cy="1443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200" b="1" dirty="0"/>
              <a:t>Insgesamt wurden 6 238 Tiere euthanasiert 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– das entspricht einer Quote von 7,8 %.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Die meisten Fälle stammen aus der Kategorie „Other“ – meist Wildtiere oder schwer verletzte Tiere.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Trotzdem sinkt die Quote seit Jahren – ein Zeichen für bessere Pflegeprozesse.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2522F3F7-68E8-C7ED-F036-0A445E5366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2427173"/>
                  </p:ext>
                </p:extLst>
              </p:nvPr>
            </p:nvGraphicFramePr>
            <p:xfrm>
              <a:off x="2232253" y="3287018"/>
              <a:ext cx="3620474" cy="272049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2522F3F7-68E8-C7ED-F036-0A445E53669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2253" y="3287018"/>
                <a:ext cx="3620474" cy="27204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8EA8735E-B8D0-7765-FDB5-F23FD4A4B5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966278"/>
                  </p:ext>
                </p:extLst>
              </p:nvPr>
            </p:nvGraphicFramePr>
            <p:xfrm>
              <a:off x="6234655" y="3287019"/>
              <a:ext cx="2827839" cy="272048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6"/>
              </a:graphicData>
            </a:graphic>
          </p:graphicFrame>
        </mc:Choice>
        <mc:Fallback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8EA8735E-B8D0-7765-FDB5-F23FD4A4B57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34655" y="3287019"/>
                <a:ext cx="2827839" cy="272048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6680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BFDB6-3507-2622-98AF-B2DE3076C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D1AD2E3-2D3D-7886-654E-5A4FC10BB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1" t="9091" r="1" b="1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11" name="Isosceles Triangle 13">
            <a:extLst>
              <a:ext uri="{FF2B5EF4-FFF2-40B4-BE49-F238E27FC236}">
                <a16:creationId xmlns:a16="http://schemas.microsoft.com/office/drawing/2014/main" id="{FA249222-61F5-A816-5786-DF2D40626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3" name="Parallelogram 15">
            <a:extLst>
              <a:ext uri="{FF2B5EF4-FFF2-40B4-BE49-F238E27FC236}">
                <a16:creationId xmlns:a16="http://schemas.microsoft.com/office/drawing/2014/main" id="{15BF49E1-1A50-C77D-5212-CA61CE0CD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4188" y="0"/>
            <a:ext cx="93726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6E715699-2963-FABF-8603-83DA57C20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9">
            <a:extLst>
              <a:ext uri="{FF2B5EF4-FFF2-40B4-BE49-F238E27FC236}">
                <a16:creationId xmlns:a16="http://schemas.microsoft.com/office/drawing/2014/main" id="{BECC1F1A-4821-FED0-7FF0-6D33CBAD2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23">
            <a:extLst>
              <a:ext uri="{FF2B5EF4-FFF2-40B4-BE49-F238E27FC236}">
                <a16:creationId xmlns:a16="http://schemas.microsoft.com/office/drawing/2014/main" id="{1051E7DC-B744-C104-A578-AEA61E552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EF2285-962D-B9B1-F4FC-1D09FDEDA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047" y="609600"/>
            <a:ext cx="6487955" cy="1320800"/>
          </a:xfrm>
        </p:spPr>
        <p:txBody>
          <a:bodyPr anchor="t">
            <a:normAutofit/>
          </a:bodyPr>
          <a:lstStyle/>
          <a:p>
            <a:pPr algn="ctr"/>
            <a:r>
              <a:rPr lang="de-DE" dirty="0"/>
              <a:t>Gesundheit &amp; </a:t>
            </a:r>
            <a:r>
              <a:rPr lang="de-DE" dirty="0" err="1"/>
              <a:t>Euthanasien</a:t>
            </a:r>
            <a:br>
              <a:rPr lang="de-DE" b="1" dirty="0"/>
            </a:br>
            <a:endParaRPr lang="de-DE" dirty="0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D91D1221-BE1A-BB01-D30A-B82D46351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3" name="Isosceles Triangle 25">
            <a:extLst>
              <a:ext uri="{FF2B5EF4-FFF2-40B4-BE49-F238E27FC236}">
                <a16:creationId xmlns:a16="http://schemas.microsoft.com/office/drawing/2014/main" id="{A10811DC-4832-79D7-2D1C-14CA70D2B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AB8BCCAE-821F-84BC-216A-D8C1AEE3C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32015D6E-FAFB-D2B4-BEE4-D2AA6417B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669405C9-58F4-1A48-840A-C31A4483E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5136BFCC-75E7-37CF-D466-15938AD2C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43BC8A7-C8C1-ED50-78D1-98B7D311D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54444" y="6525362"/>
            <a:ext cx="6297612" cy="365125"/>
          </a:xfrm>
        </p:spPr>
        <p:txBody>
          <a:bodyPr/>
          <a:lstStyle/>
          <a:p>
            <a:r>
              <a:rPr lang="de-DE" dirty="0"/>
              <a:t>Michael Hornung </a:t>
            </a:r>
            <a:r>
              <a:rPr lang="de-DE" dirty="0" err="1"/>
              <a:t>DataSmartPoint</a:t>
            </a:r>
            <a:r>
              <a:rPr lang="de-DE" dirty="0"/>
              <a:t> Projektarbeit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D25BF2-98C0-7BFF-7BBA-FB1436E07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6080" y="6257672"/>
            <a:ext cx="683339" cy="365125"/>
          </a:xfrm>
        </p:spPr>
        <p:txBody>
          <a:bodyPr/>
          <a:lstStyle/>
          <a:p>
            <a:fld id="{A3975479-B7B4-4155-BCBC-D37B4519C2C2}" type="slidenum">
              <a:rPr lang="de-DE" sz="2000" b="1" smtClean="0">
                <a:solidFill>
                  <a:schemeClr val="tx1"/>
                </a:solidFill>
              </a:rPr>
              <a:t>9</a:t>
            </a:fld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36CC67CF-7B88-C7C6-A53A-1D39A28ED0E6}"/>
              </a:ext>
            </a:extLst>
          </p:cNvPr>
          <p:cNvSpPr txBox="1"/>
          <p:nvPr/>
        </p:nvSpPr>
        <p:spPr>
          <a:xfrm>
            <a:off x="9676563" y="144273"/>
            <a:ext cx="2388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/>
              <a:t>„</a:t>
            </a:r>
            <a:r>
              <a:rPr lang="de-DE" dirty="0"/>
              <a:t>Statistik zeigt nicht Schuld, sondern Verantwortung. </a:t>
            </a:r>
            <a:r>
              <a:rPr lang="de-DE" i="1" dirty="0"/>
              <a:t>“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3924728-FB3D-3EC3-ED5C-C662183302BE}"/>
              </a:ext>
            </a:extLst>
          </p:cNvPr>
          <p:cNvSpPr txBox="1"/>
          <p:nvPr/>
        </p:nvSpPr>
        <p:spPr>
          <a:xfrm>
            <a:off x="2682605" y="1494161"/>
            <a:ext cx="6297611" cy="1720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200" b="1" dirty="0"/>
              <a:t>Die Auswertung zeigt: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– 44 % der eingeschläferten Tiere waren krank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– 37 % verletzt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– 4 % gesund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Auch gesunde Tiere mussten eingeschläfert werden – meist aus Platzgründen.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Hier wird deutlich, wo das System an seine Grenzen kommt.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EE6C7395-9B9A-F33B-FBAC-ECB269C232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5268705"/>
                  </p:ext>
                </p:extLst>
              </p:nvPr>
            </p:nvGraphicFramePr>
            <p:xfrm>
              <a:off x="3018275" y="3424551"/>
              <a:ext cx="5381610" cy="269014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EE6C7395-9B9A-F33B-FBAC-ECB269C2328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18275" y="3424551"/>
                <a:ext cx="5381610" cy="269014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7860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80CE0D-80D8-D3DF-09CB-19151637B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15157F67-27C5-13EC-4C3C-86C3D0270F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1" t="9091" r="1" b="1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11" name="Isosceles Triangle 13">
            <a:extLst>
              <a:ext uri="{FF2B5EF4-FFF2-40B4-BE49-F238E27FC236}">
                <a16:creationId xmlns:a16="http://schemas.microsoft.com/office/drawing/2014/main" id="{0EFABA73-7D62-C61E-2D44-0701B6C82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3" name="Parallelogram 15">
            <a:extLst>
              <a:ext uri="{FF2B5EF4-FFF2-40B4-BE49-F238E27FC236}">
                <a16:creationId xmlns:a16="http://schemas.microsoft.com/office/drawing/2014/main" id="{6A249447-E29A-81E9-D0C1-F9E3E3585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4188" y="0"/>
            <a:ext cx="93726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5630AF8F-B150-2568-CED3-DFA4B043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9">
            <a:extLst>
              <a:ext uri="{FF2B5EF4-FFF2-40B4-BE49-F238E27FC236}">
                <a16:creationId xmlns:a16="http://schemas.microsoft.com/office/drawing/2014/main" id="{460D576C-B933-CE68-B361-B63EA106E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23">
            <a:extLst>
              <a:ext uri="{FF2B5EF4-FFF2-40B4-BE49-F238E27FC236}">
                <a16:creationId xmlns:a16="http://schemas.microsoft.com/office/drawing/2014/main" id="{9EB4E79D-61E4-FD9C-B353-0B75526854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C2BDF09-D724-16F0-F42F-919A66D01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047" y="609600"/>
            <a:ext cx="6487955" cy="1320800"/>
          </a:xfrm>
        </p:spPr>
        <p:txBody>
          <a:bodyPr anchor="t">
            <a:normAutofit/>
          </a:bodyPr>
          <a:lstStyle/>
          <a:p>
            <a:pPr algn="ctr"/>
            <a:r>
              <a:rPr lang="de-DE" dirty="0"/>
              <a:t>Gesundheit &amp; </a:t>
            </a:r>
            <a:r>
              <a:rPr lang="de-DE" dirty="0" err="1"/>
              <a:t>Intakes</a:t>
            </a:r>
            <a:br>
              <a:rPr lang="de-DE" b="1" dirty="0"/>
            </a:br>
            <a:endParaRPr lang="de-DE" dirty="0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B14D986A-F3B1-E759-4A4C-F74ED5EE2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3" name="Isosceles Triangle 25">
            <a:extLst>
              <a:ext uri="{FF2B5EF4-FFF2-40B4-BE49-F238E27FC236}">
                <a16:creationId xmlns:a16="http://schemas.microsoft.com/office/drawing/2014/main" id="{5FF734AE-03C0-4803-F271-4C1110F1A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2B57FA29-DCA9-563E-77B2-E57D89A6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1EEFA9F3-95EA-3DE1-17D4-BEF22D5CF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0EE9076F-17E8-5178-BE78-5E5BBEC5B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27C34299-E5AD-F520-2DED-0D7E881B8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A1DA936-7B32-D4FE-49BE-7CD2FDC01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54444" y="6525362"/>
            <a:ext cx="6297612" cy="365125"/>
          </a:xfrm>
        </p:spPr>
        <p:txBody>
          <a:bodyPr/>
          <a:lstStyle/>
          <a:p>
            <a:r>
              <a:rPr lang="de-DE" dirty="0"/>
              <a:t>Michael Hornung </a:t>
            </a:r>
            <a:r>
              <a:rPr lang="de-DE" dirty="0" err="1"/>
              <a:t>DataSmartPoint</a:t>
            </a:r>
            <a:r>
              <a:rPr lang="de-DE" dirty="0"/>
              <a:t> Projektarbeit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C3DC441-4FA8-AD4B-58E3-36973D76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6080" y="6257672"/>
            <a:ext cx="683339" cy="365125"/>
          </a:xfrm>
        </p:spPr>
        <p:txBody>
          <a:bodyPr/>
          <a:lstStyle/>
          <a:p>
            <a:fld id="{A3975479-B7B4-4155-BCBC-D37B4519C2C2}" type="slidenum">
              <a:rPr lang="de-DE" sz="2000" b="1" smtClean="0">
                <a:solidFill>
                  <a:schemeClr val="tx1"/>
                </a:solidFill>
              </a:rPr>
              <a:t>10</a:t>
            </a:fld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B885C8B2-D801-326F-4C1D-DEC0FA7D2CB1}"/>
              </a:ext>
            </a:extLst>
          </p:cNvPr>
          <p:cNvSpPr txBox="1"/>
          <p:nvPr/>
        </p:nvSpPr>
        <p:spPr>
          <a:xfrm>
            <a:off x="9676563" y="144273"/>
            <a:ext cx="2388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/>
              <a:t>„</a:t>
            </a:r>
            <a:r>
              <a:rPr lang="de-DE" dirty="0"/>
              <a:t>Gesunde Ankünfte brauchen gesunde Abläufe. </a:t>
            </a:r>
            <a:r>
              <a:rPr lang="de-DE" i="1" dirty="0"/>
              <a:t>“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25A3BFD-DCE6-4A12-6B5C-74DCB8585AA6}"/>
              </a:ext>
            </a:extLst>
          </p:cNvPr>
          <p:cNvSpPr txBox="1"/>
          <p:nvPr/>
        </p:nvSpPr>
        <p:spPr>
          <a:xfrm>
            <a:off x="2682605" y="1494161"/>
            <a:ext cx="6297611" cy="1720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200" b="1" dirty="0"/>
              <a:t>Die meisten Tiere kamen gesund ins Center 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– rund 88 % aller Aufnahmen.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Nur ein kleiner Teil war verletzt oder krank.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Das zeigt: 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Die Herausforderung beginnt nicht bei der Aufnahme, sondern bei der Betreuung danach.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3536F28E-2E1E-35E0-693D-64538C091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9734611"/>
                  </p:ext>
                </p:extLst>
              </p:nvPr>
            </p:nvGraphicFramePr>
            <p:xfrm>
              <a:off x="2890683" y="3333153"/>
              <a:ext cx="5755517" cy="250720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3536F28E-2E1E-35E0-693D-64538C0911C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90683" y="3333153"/>
                <a:ext cx="5755517" cy="25072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493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CD55AD-4EC0-E54E-ADE9-653363B37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FC2A06A-0123-C994-5505-A0E5A3D38B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1" t="9091" r="1" b="1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11" name="Isosceles Triangle 13">
            <a:extLst>
              <a:ext uri="{FF2B5EF4-FFF2-40B4-BE49-F238E27FC236}">
                <a16:creationId xmlns:a16="http://schemas.microsoft.com/office/drawing/2014/main" id="{A0509CAF-30DF-F537-515A-7184E62FE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3" name="Parallelogram 15">
            <a:extLst>
              <a:ext uri="{FF2B5EF4-FFF2-40B4-BE49-F238E27FC236}">
                <a16:creationId xmlns:a16="http://schemas.microsoft.com/office/drawing/2014/main" id="{F6BBC8C5-32C2-55AB-C8D3-E62711FEB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4188" y="0"/>
            <a:ext cx="93726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2FF45538-3498-B646-3106-7B921DA570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9">
            <a:extLst>
              <a:ext uri="{FF2B5EF4-FFF2-40B4-BE49-F238E27FC236}">
                <a16:creationId xmlns:a16="http://schemas.microsoft.com/office/drawing/2014/main" id="{F3D1C1F4-7201-E179-6B34-EC0F7EC03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23">
            <a:extLst>
              <a:ext uri="{FF2B5EF4-FFF2-40B4-BE49-F238E27FC236}">
                <a16:creationId xmlns:a16="http://schemas.microsoft.com/office/drawing/2014/main" id="{08608661-EB54-3AC6-621C-2601209AA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1ED8562-5B67-2B05-63BE-399DF8D41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047" y="609600"/>
            <a:ext cx="6487955" cy="1320800"/>
          </a:xfrm>
        </p:spPr>
        <p:txBody>
          <a:bodyPr anchor="t">
            <a:normAutofit fontScale="90000"/>
          </a:bodyPr>
          <a:lstStyle/>
          <a:p>
            <a:pPr algn="ctr"/>
            <a:r>
              <a:rPr lang="de-DE" dirty="0"/>
              <a:t>Zeitliche Entwicklung 2013–2018</a:t>
            </a:r>
            <a:br>
              <a:rPr lang="de-DE" b="1" dirty="0"/>
            </a:br>
            <a:endParaRPr lang="de-DE" dirty="0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675902EB-871C-2C53-91BB-67DCEB058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3" name="Isosceles Triangle 25">
            <a:extLst>
              <a:ext uri="{FF2B5EF4-FFF2-40B4-BE49-F238E27FC236}">
                <a16:creationId xmlns:a16="http://schemas.microsoft.com/office/drawing/2014/main" id="{02D46F0D-4390-461F-B7D3-F6AFE196C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60BFB4A5-0543-DFE2-C757-6F2416926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F17A0457-A0A3-C6B5-43DF-7043EA0D1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63CF0FF1-97AA-BECC-C1DB-5F9066B5E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BD318356-BEE8-EA89-6E41-1FB7A3D48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75E8AD-8E7D-9136-7720-CE62282FB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54444" y="6525362"/>
            <a:ext cx="6297612" cy="365125"/>
          </a:xfrm>
        </p:spPr>
        <p:txBody>
          <a:bodyPr/>
          <a:lstStyle/>
          <a:p>
            <a:r>
              <a:rPr lang="de-DE" dirty="0"/>
              <a:t>Michael Hornung </a:t>
            </a:r>
            <a:r>
              <a:rPr lang="de-DE" dirty="0" err="1"/>
              <a:t>DataSmartPoint</a:t>
            </a:r>
            <a:r>
              <a:rPr lang="de-DE" dirty="0"/>
              <a:t> Projektarbeit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8B5FD8-9523-8B84-C878-260BCCA2C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6080" y="6257672"/>
            <a:ext cx="683339" cy="365125"/>
          </a:xfrm>
        </p:spPr>
        <p:txBody>
          <a:bodyPr/>
          <a:lstStyle/>
          <a:p>
            <a:fld id="{A3975479-B7B4-4155-BCBC-D37B4519C2C2}" type="slidenum">
              <a:rPr lang="de-DE" sz="2000" b="1" smtClean="0">
                <a:solidFill>
                  <a:schemeClr val="tx1"/>
                </a:solidFill>
              </a:rPr>
              <a:t>11</a:t>
            </a:fld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04193FFC-B868-3578-1D73-DF3189D80A53}"/>
              </a:ext>
            </a:extLst>
          </p:cNvPr>
          <p:cNvSpPr txBox="1"/>
          <p:nvPr/>
        </p:nvSpPr>
        <p:spPr>
          <a:xfrm>
            <a:off x="9676563" y="144273"/>
            <a:ext cx="2388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/>
              <a:t>„</a:t>
            </a:r>
            <a:r>
              <a:rPr lang="de-DE" dirty="0"/>
              <a:t>Fortschritt ist messbar – wenn man ihn misst. </a:t>
            </a:r>
            <a:r>
              <a:rPr lang="de-DE" i="1" dirty="0"/>
              <a:t>“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AD41947-419A-4F1F-8823-E1D0320204D9}"/>
              </a:ext>
            </a:extLst>
          </p:cNvPr>
          <p:cNvSpPr txBox="1"/>
          <p:nvPr/>
        </p:nvSpPr>
        <p:spPr>
          <a:xfrm>
            <a:off x="2682605" y="1494161"/>
            <a:ext cx="6297611" cy="1443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200" b="1" dirty="0"/>
              <a:t>Über die Jahre zeigt sich ein klarer Trend: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– Aufnahmezahlen bleiben stabil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– Adoptionen steigen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– </a:t>
            </a:r>
            <a:r>
              <a:rPr lang="de-DE" sz="1200" b="1" dirty="0" err="1"/>
              <a:t>Euthanasien</a:t>
            </a:r>
            <a:r>
              <a:rPr lang="de-DE" sz="1200" b="1" dirty="0"/>
              <a:t> sinken kontinuierlich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Das ist das beste Zeichen dafür, dass Management und Aufklärung wirken.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CBD7CA50-3E5A-24CD-B681-C75D8C14AB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28796"/>
                  </p:ext>
                </p:extLst>
              </p:nvPr>
            </p:nvGraphicFramePr>
            <p:xfrm>
              <a:off x="2463205" y="3283974"/>
              <a:ext cx="6679246" cy="249754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CBD7CA50-3E5A-24CD-B681-C75D8C14AB3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63205" y="3283974"/>
                <a:ext cx="6679246" cy="249754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9625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A1A51-BE5F-A087-6F1F-858189230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CAE2DE4-F45F-A0DA-4ACF-CEF6AFE14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1" t="9091" r="1" b="1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11" name="Isosceles Triangle 13">
            <a:extLst>
              <a:ext uri="{FF2B5EF4-FFF2-40B4-BE49-F238E27FC236}">
                <a16:creationId xmlns:a16="http://schemas.microsoft.com/office/drawing/2014/main" id="{8D41BEF6-378E-ABB0-B393-C4EDC07DF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3" name="Parallelogram 15">
            <a:extLst>
              <a:ext uri="{FF2B5EF4-FFF2-40B4-BE49-F238E27FC236}">
                <a16:creationId xmlns:a16="http://schemas.microsoft.com/office/drawing/2014/main" id="{32C97AB4-A912-B0A9-52D5-D4D446AB9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4188" y="0"/>
            <a:ext cx="93726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9E0F2AFD-41BF-0656-3805-104C4151A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9">
            <a:extLst>
              <a:ext uri="{FF2B5EF4-FFF2-40B4-BE49-F238E27FC236}">
                <a16:creationId xmlns:a16="http://schemas.microsoft.com/office/drawing/2014/main" id="{0FD5D77A-0ABF-DEB7-7791-16C9F748A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23">
            <a:extLst>
              <a:ext uri="{FF2B5EF4-FFF2-40B4-BE49-F238E27FC236}">
                <a16:creationId xmlns:a16="http://schemas.microsoft.com/office/drawing/2014/main" id="{AE87A1E6-168F-52AE-002F-760EB6B0C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BFD4DC-CE9E-B6D3-ABB3-6A9E0282D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047" y="609600"/>
            <a:ext cx="6487955" cy="1320800"/>
          </a:xfrm>
        </p:spPr>
        <p:txBody>
          <a:bodyPr anchor="t">
            <a:normAutofit/>
          </a:bodyPr>
          <a:lstStyle/>
          <a:p>
            <a:pPr algn="ctr"/>
            <a:r>
              <a:rPr lang="de-DE" dirty="0"/>
              <a:t>Fazit &amp; Ausblick</a:t>
            </a:r>
            <a:br>
              <a:rPr lang="de-DE" b="1" dirty="0"/>
            </a:br>
            <a:endParaRPr lang="de-DE" dirty="0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5486A5A9-C869-272D-94FB-54F37DC21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3" name="Isosceles Triangle 25">
            <a:extLst>
              <a:ext uri="{FF2B5EF4-FFF2-40B4-BE49-F238E27FC236}">
                <a16:creationId xmlns:a16="http://schemas.microsoft.com/office/drawing/2014/main" id="{3FD26E54-1538-13F8-2E2D-6E83D54F3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521337B7-E234-0A4D-B22F-7D92E9F30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A57941DF-AFF6-AE23-184A-952C712A5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E95A8E39-A2F8-82D0-9084-164007564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0C24BC8D-D2A0-5475-760A-9427CCE8F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45C95E4-03FF-E223-55D0-53173A612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54444" y="6525362"/>
            <a:ext cx="6297612" cy="365125"/>
          </a:xfrm>
        </p:spPr>
        <p:txBody>
          <a:bodyPr/>
          <a:lstStyle/>
          <a:p>
            <a:r>
              <a:rPr lang="de-DE" dirty="0"/>
              <a:t>Michael Hornung </a:t>
            </a:r>
            <a:r>
              <a:rPr lang="de-DE" dirty="0" err="1"/>
              <a:t>DataSmartPoint</a:t>
            </a:r>
            <a:r>
              <a:rPr lang="de-DE" dirty="0"/>
              <a:t> Projektarbeit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783A59A-9665-45FC-E509-BB60A4C5F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6080" y="6257672"/>
            <a:ext cx="683339" cy="365125"/>
          </a:xfrm>
        </p:spPr>
        <p:txBody>
          <a:bodyPr/>
          <a:lstStyle/>
          <a:p>
            <a:fld id="{A3975479-B7B4-4155-BCBC-D37B4519C2C2}" type="slidenum">
              <a:rPr lang="de-DE" sz="2000" b="1" smtClean="0">
                <a:solidFill>
                  <a:schemeClr val="tx1"/>
                </a:solidFill>
              </a:rPr>
              <a:t>12</a:t>
            </a:fld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23FFF6DD-4640-4362-6415-51E56291DD9F}"/>
              </a:ext>
            </a:extLst>
          </p:cNvPr>
          <p:cNvSpPr txBox="1"/>
          <p:nvPr/>
        </p:nvSpPr>
        <p:spPr>
          <a:xfrm>
            <a:off x="9676563" y="144273"/>
            <a:ext cx="2388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/>
              <a:t>„</a:t>
            </a:r>
            <a:r>
              <a:rPr lang="de-DE" dirty="0"/>
              <a:t>Wer Daten nutzt, verbessert nicht nur Zahlen – sondern Leben. </a:t>
            </a:r>
            <a:r>
              <a:rPr lang="de-DE" i="1" dirty="0"/>
              <a:t>“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C10E76C-D8E2-2BB8-2F85-A05534044E1F}"/>
              </a:ext>
            </a:extLst>
          </p:cNvPr>
          <p:cNvSpPr txBox="1"/>
          <p:nvPr/>
        </p:nvSpPr>
        <p:spPr>
          <a:xfrm>
            <a:off x="2682605" y="1494161"/>
            <a:ext cx="6297611" cy="2551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200" b="1" dirty="0"/>
              <a:t>Aus einer einzigen Datentabelle wurde ein vollständiges Analyse-System 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– präzise, nachvollziehbar und aussagekräftig.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Die Visualisierungen machen sichtbar, was früher verborgen blieb: 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Entwicklungen, Belastungen und Erfolgsgeschichten.</a:t>
            </a:r>
          </a:p>
          <a:p>
            <a:pPr>
              <a:lnSpc>
                <a:spcPct val="150000"/>
              </a:lnSpc>
            </a:pPr>
            <a:endParaRPr lang="de-DE" sz="1200" b="1" dirty="0"/>
          </a:p>
          <a:p>
            <a:pPr>
              <a:lnSpc>
                <a:spcPct val="150000"/>
              </a:lnSpc>
            </a:pPr>
            <a:r>
              <a:rPr lang="de-DE" sz="1200" b="1" dirty="0"/>
              <a:t>Mit klaren Kennzahlen kann das Austin Animal Center seine Arbeit besser planen, steuern und belegen.</a:t>
            </a:r>
          </a:p>
          <a:p>
            <a:pPr>
              <a:lnSpc>
                <a:spcPct val="150000"/>
              </a:lnSpc>
            </a:pPr>
            <a:r>
              <a:rPr lang="de-DE" sz="1200" b="1" dirty="0"/>
              <a:t>Die Analyse ist damit kein Abschluss, sondern der Anfang einer neuen Phase – einer datenbasierten, transparenten Tierheimarbeit.</a:t>
            </a:r>
          </a:p>
        </p:txBody>
      </p:sp>
    </p:spTree>
    <p:extLst>
      <p:ext uri="{BB962C8B-B14F-4D97-AF65-F5344CB8AC3E}">
        <p14:creationId xmlns:p14="http://schemas.microsoft.com/office/powerpoint/2010/main" val="138873878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5EBD294-1578-4C8A-A41B-156A4CAC4D31}">
  <we:reference id="wa200009087" version="1.0.0.5" store="de-DE" storeType="OMEX"/>
  <we:alternateReferences>
    <we:reference id="WA200009087" version="1.0.0.5" store="WA200009087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E9191F3-816D-477E-8334-AF01500FFC4A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B9E2F6&quot;"/>
    <we:property name="bookmark" value="&quot;H4sIAAAAAAAAA+1ZTW/bOBD9K4UuvRgBqS9LuSXZHBZp2qBZZLFYBMaQHMVsZUpLUWncwP+9Q8ne1ok3bpPYzgK5WfyYefPmUTOUbwOlm7qE6XuYYLAfvMMGv6KWYzRveDAITD98+OHDyenBx5PR+4PTYxquaqcr0wT7t4EDe4XuQjctlN4IDf59OQigLM/gyj8VUDY4CGq0TWWg1F+xX0xTzrY4GwR4U5eVBW/y3IFDb/aaltMz+eZ7PCGXIJ2+xnOUbj4MnOU8KfIshSjhccoUo2VNv6CDtnKJt935P6qMA23Ijx9LCiGKMGIq5IIx5MiHsR9vtLkq54i/7/1jWntaHN44Ud14QsQncuwtzWYUUc5jJiCPeAgcQ4zDSAi/u9ClmzsU0+Ob2hJZRGFv7UBdg5Gogo4Ri01PwG1witC0tqPleGnivGqtxI9YdFPGaTclO2x0Cs048DjObEW8d6O/U7SfKR9+eFx9ObJITKtgn80uaeTBMCVYtRwjPViF9nDa4f9N20VawsEdiM+MncB6wRR5GPMhzyOULEwylrBd03vcujEYaDSaJ1AMravOsSQ2L36Y9cfknsTSEIokS2Mhk1AlYQIiZ2s5OCJAV5XVkiDcpeGoKtuJ+VkWlJ6MlD+rd3g4pVM1XsHAYH0engfAXwj2Qf+b5+BPxM8Kpo9jYcOHfVsIPrROVpNHvm/KtiENozoEezQG617My2dRhmj60w+FZi6pHtCzyviyO+tDZILJgqUy54LqigLgWzzrBQU9wms0rhnJEsHcBdvUKPUauT3vsQOjJ2ToDg5hkdy+xGP3qvnH6anXfygSkSeMixQ5j1XOAHDH9f5A9T3wynK/Lb093HRs7VXvxmjfPOWFryrTut2rfpnOvtUcSh6DlDLDKB8OSYIAT2g1N9rirKW5KbVEu0RxMEG6vvkf5Ai6GOrekT9/fr5S3TR2Id4G7zSF3du+gLL1Zt8eovuCaN560ua0rXxldBuaTRXJOOQsjfJI5JKn9COMotci+QtFcnfyoRMnNyeeX6o2HelgmsWniN6hrcru1wIE1cSSLJb97D8t2il57Vbc87a3ME+bdEPQS6gbz3h/q9MKO6AnON10cN7/mTZm4dzrbgn7d83s9SL5D8jLVmiRrSrnYS2CWeTKtGU5z2k2LCIeJSxkjMVcZXnIcr/lQcURFFLXvatvxmNMYx6CyESmIshZNHzJ7cDL/8CyBL9PWJwqUUR08Uh9xkLIhkztmOSnNxo7J/peCD3ZqYp5RPe7LKFmI8pZmLJsx2T/zCeELVZP3cEZycoo3SXo9Y717IT2fVQhkqGKVZhLTFUUsxxgvRa32UfhzaitKzPqI3i97v/vpXg/o5ddMzhb3WpWrWtqkHgGBle0nF0Dp1CtaTt97xJ0PigxWpTr2tTub6x/m9TZ7Bs5YrG1OhsAAA==&quot;"/>
    <we:property name="creatorSessionId" value="&quot;d0cf30ba-891c-4a9a-aa95-c2fe72e5ccc8&quot;"/>
    <we:property name="creatorTenantId" value="&quot;7db25319-c04d-4699-88f4-84306cdd3f56&quot;"/>
    <we:property name="creatorUserId" value="&quot;10032004B43912AC&quot;"/>
    <we:property name="datasetId" value="&quot;8ae6325e-e960-4e22-9dad-ac23f98de1b8&quot;"/>
    <we:property name="embedUrl" value="&quot;/reportEmbed?reportId=9bc4c742-2e3b-4c78-bf50-fce42bfdd82b&amp;groupId=c393bef6-61f1-4905-8799-b7feadfa2c4b&amp;w=2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+1ZTW/bOBD9K4UuvRgBqS9LuSXZHBZp2qBZZLFYBMaQHMVsZUpLUWncwP+9Q8ne1ok3bpPYzgK5WfyYefPmUTOUbwOlm7qE6XuYYLAfvMMGv6KWYzRveDAITD98+OHDyenBx5PR+4PTYxquaqcr0wT7t4EDe4XuQjctlN4IDf59OQigLM/gyj8VUDY4CGq0TWWg1F+xX0xTzrY4GwR4U5eVBW/y3IFDb/aaltMz+eZ7PCGXIJ2+xnOUbj4MnOU8KfIshSjhccoUo2VNv6CDtnKJt935P6qMA23Ijx9LCiGKMGIq5IIx5MiHsR9vtLkq54i/7/1jWntaHN44Ud14QsQncuwtzWYUUc5jJiCPeAgcQ4zDSAi/u9ClmzsU0+Ob2hJZRGFv7UBdg5Gogo4Ri01PwG1witC0tqPleGnivGqtxI9YdFPGaTclO2x0Cs048DjObEW8d6O/U7SfKR9+eFx9ObJITKtgn80uaeTBMCVYtRwjPViF9nDa4f9N20VawsEdiM+MncB6wRR5GPMhzyOULEwylrBd03vcujEYaDSaJ1AMravOsSQ2L36Y9cfknsTSEIokS2Mhk1AlYQIiZ2s5OCJAV5XVkiDcpeGoKtuJ+VkWlJ6MlD+rd3g4pVM1XsHAYH0engfAXwj2Qf+b5+BPxM8Kpo9jYcOHfVsIPrROVpNHvm/KtiENozoEezQG617My2dRhmj60w+FZi6pHtCzyviyO+tDZILJgqUy54LqigLgWzzrBQU9wms0rhnJEsHcBdvUKPUauT3vsQOjJ2ToDg5hkdy+xGP3qvnH6anXfygSkSeMixQ5j1XOAHDH9f5A9T3wynK/Lb093HRs7VXvxmjfPOWFryrTut2rfpnOvtUcSh6DlDLDKB8OSYIAT2g1N9rirKW5KbVEu0RxMEG6vvkf5Ai6GOrekT9/fr5S3TR2Id4G7zSF3du+gLL1Zt8eovuCaN560ua0rXxldBuaTRXJOOQsjfJI5JKn9COMotci+QtFcnfyoRMnNyeeX6o2HelgmsWniN6hrcru1wIE1cSSLJb97D8t2il57Vbc87a3ME+bdEPQS6gbz3h/q9MKO6AnON10cN7/mTZm4dzrbgn7d83s9SL5D8jLVmiRrSrnYS2CWeTKtGU5z2k2LCIeJSxkjMVcZXnIcr/lQcURFFLXvatvxmNMYx6CyESmIshZNHzJ7cDL/8CyBL9PWJwqUUR08Uh9xkLIhkztmOSnNxo7J/peCD3ZqYp5RPe7LKFmI8pZmLJsx2T/zCeELVZP3cEZycoo3SXo9Y717IT2fVQhkqGKVZhLTFUUsxxgvRa32UfhzaitKzPqI3i97v/vpXg/o5ddMzhb3WpWrWtqkHgGBle0nF0Dp1CtaTt97xJ0PigxWpTr2tTub6x/m9TZ7Bs5YrG1OhsAAA==&quot;"/>
    <we:property name="isFiltersActionButtonVisible" value="false"/>
    <we:property name="isFooterCollapsed" value="true"/>
    <we:property name="isVisualContainerHeaderHidden" value="false"/>
    <we:property name="pageDisplayName" value="&quot;Übersicht – Intakes und Outcomes&quot;"/>
    <we:property name="pageName" value="&quot;1a10915f986a351460d0&quot;"/>
    <we:property name="pptInsertionSessionID" value="&quot;F0248D09-8A22-4B17-8ACF-86F89B384209&quot;"/>
    <we:property name="reportEmbeddedTime" value="&quot;2025-10-08T14:23:53.208Z&quot;"/>
    <we:property name="reportName" value="&quot;Abschluss Mick&quot;"/>
    <we:property name="reportState" value="&quot;CONNECTED&quot;"/>
    <we:property name="reportUrl" value="&quot;/links/HSVv8k9VlK?ctid=7db25319-c04d-4699-88f4-84306cdd3f56&amp;bookmarkGuid=db4a2d0c-ec3c-44b6-ab6b-4718a97a2e21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C91FC08B-B7A7-4934-856B-BBB6F15CAEC0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Name" value="&quot;Adoptionen nach Wochentag&quot;"/>
    <we:property name="artifactViewState" value="&quot;live&quot;"/>
    <we:property name="backgroundColor" value="&quot;#FFF&quot;"/>
    <we:property name="bookmark" value="&quot;H4sIAAAAAAAAA+1ZTW/bOBD9K4EuvRiBqG/l1iQ9bbMI2qKLxSIwhuTYZkuLWlJK4gb57x1Kdtu4TpwPe+0A60tscjTzZt4baajcBFK5WsPsT5hicBS8R4ffUIkJVgcsGARVv5xxxDwZhUUS5znIMA2zknZN3ShTueDoJmjAjrH5rFwL2vuixX+CiOVJKLCMY4QIcx6mJQ8uBgFofQ5jbzMC7XAQ1GidqUCrb9i7oK3Gtng7CPC61saCD/SxgQZ9sEsyp98EjB3GhANEoy7xI4qmX5WsgGKUsCLlUIBI04xzMnO9QYd3pYl33YU/MVUDqqIwfq1IsyzPQiHTiLMoDDEOc78+UrqZm/DZu+vaUs5UiVntS3ZCWMfGKgE66LKw6HrQN8GJ0e20+/buzvpH01qBH3DUbVWNambkaUTpDfESq8YNhUaogluqy7k1VLXOgEo5HFvT1kNFsL9itz8xVycWCYQMjsLbwQ9cb+UlVIJWl0GdIbjW4mNRhcMzcJNlKGcoFVQHpzBzB405eCt7iaxAdEErTlVjPWf8Z/E/9UCFbh2VF2VfrZMJ2MZrjn8hGn3RyYGxEu3xrKv7qbILAUSDpRS2nNvtxUKDZP7lF5XNRdAD3D7rvqbzfva+pkb6Qk6UlNjBHKzuyP9OylJNh9I38VIufyF+lQR6d8JdsIkv0+ox2N0L9U4u29DmehovOrXJXAIkSRbnwIsyDYGFwjt6sJYNXjfcXC9X8GFdS5ZEPM+jRJZMRqVM0rhYG0lNqYeeFgdCZEUU8wxKRg+FFHgEa/tnr5ULVu6XWNcQHbECk4LlBZcJRFlRYronBDi7aInXysEig/U0xJKPWBonJS+LJE9lEafxjmnY5Oixa0IeHjXWdEgYZ3wEhZAiLstExCjKfZpWXY1C0ez//7P+VTzrn8Dn+vEzkSnykM5bGPOUsywXYbEH4+cZHfcm3Qn4WaLcDIi/EeweNMWzn2K1ujTNJ+D6t5HqnoZgyw2xeTLvbYgP5sptcPD9NSaF7J1uMsBcHOs7jKWsjGKWlGHKcqRmE4y9trv/ZhseKprz9TIObpHCPkPmTiuB9o7Egynacdd+RB10ha37SD7THzzddKn4v+8VcdH7/gy69W7fHINT4o0nsTs93aPbzvw5wnribZyQQuUW79z6gNbo/rXeHAQJXZNH3e/+26KdUdTO4rdohwv3dJFyBF1D7XzF/Vs+WiL9eqB/4Gzbyfn456qqFsG97u5g/6mZw14k90C+64WMrDGNh7VIZsFV1Wr9iLmNCeAhiBFE9Ckkx7R4wclmq8+k3TUJNleI1fba5MX33yTPRmEsiowVcVQWYQpJuFf3X7wetrWphqZthFk58eyM3VO6QpqrLdL7nPKs47yjfVUlyIWradQ9hwpXVKS7xUpf8ger0v2HpNcWkaD8ePXIC/q3cLffAU0WjgfjGQAA&quot;"/>
    <we:property name="creatorSessionId" value="&quot;c23f9cbb-7de3-4028-add7-0bc12067d165&quot;"/>
    <we:property name="creatorTenantId" value="&quot;7db25319-c04d-4699-88f4-84306cdd3f56&quot;"/>
    <we:property name="creatorUserId" value="&quot;10032004B43912AC&quot;"/>
    <we:property name="datasetId" value="&quot;8ae6325e-e960-4e22-9dad-ac23f98de1b8&quot;"/>
    <we:property name="embedUrl" value="&quot;/reportEmbed?reportId=9bc4c742-2e3b-4c78-bf50-fce42bfdd82b&amp;groupId=c393bef6-61f1-4905-8799-b7feadfa2c4b&amp;w=2&amp;config=eyJjbHVzdGVyVXJsIjoiaHR0cHM6Ly9XQUJJLUdFUk1BTlktV0VTVC1DRU5UUkFMLVBSSU1BUlktcmVkaXJlY3QuYW5hbHlzaXMud2luZG93cy5uZXQiLCJlbWJlZEZlYXR1cmVzIjp7InVzYWdlTWV0cmljc1ZOZXh0Ijp0cnVlfX0%3D&amp;disableSensitivityBanner=true&amp;storytellingAnnotations=true&amp;storytellingChangeViewModeShortcutKeys=true&quot;"/>
    <we:property name="initialStateBookmark" value="&quot;H4sIAAAAAAAAA+1Z227bOBD9lUAvfTECURdLyltuT6nbIC26WCwCY0iObba0qCWlJG6Qf+9QitvGTeJc7LUDbF5iU6OZM3POkCP5OpDKVRpmH2CKwV7wHh1+RyUmWO6woBeU3fLBx48ng/2zk+GH/cExLZuqVqZ0wd51UIMdY/1FuQa0d0KL/5z3AtD6FMb+2wi0w15QoXWmBK2+Y2dMl2rb4E0vwKtKGwve5acaavRuL8icvlNsthtTRBC1usBPKOpuVbIc8lHC8pRDDiJN+5yTmesMWmT3mnjXbfhDU9agSgrj1/K038/6oZBpxFkUhhiHmV8fKV3fmvDZ8VVlKTvKeVb5qhwS1rGxSoAO2iwsug70dXBodDNtPx3fWf9kGivwDEftpbJW9Yw8jSi9IV5gWbuh0AhlcEN1ObWGqtYaUCmHY2uaaqgI9jdsr0/M5aFFAiGDvfCm9xPXvryAUtDqIqgBgmssPhVVOByAmyxCGaBUUO4cwczt1GZnX3ZiuAfROa04VY71LeO/iv+5Ayp046i8KLtqHU7A1l5d/CvR6ItODoyVaA9mbd2PlJ0LIOotpLDm3G7O5xok86+/qexWBB3A9bPua3rbst7X1EhfyImSEluYvSBiWRIKLOIYIcKMh2nB/0MpSzUdSt/EC7n8hfhNEujNCXfOJr5OqwdgNy/UO7msQ5vLaTxv1SYzCZAk/TgDnhdpCCwU3tGjtazxqubmarGCj+tasiTiWRYlsmAyKmSSxvnSSGpKPfS8OBAiy6OY96FgdCikwCNY2j9brVywcrvEuoToiOWY5CzLuUwg6ucFpltCgLPzlnirHMwzWE5DLPmIpXFS8CJPslTmcRpvmIZVjh6bJuTxUWNJh4Rxn48gF1LERZGIGEWxTdOqq1Aomv3/P+vfxFn/DD6Xj5+JTJGH9LyFMU8562cizLdg/BzQ496kfch9kShXA+JvBLsFTfHiU6xSF6b+DFz/MVI90BBssSFWT+aDDXFmLt0KB9/fY1LIzukqA9yKY3mHsZQVUcySIkxZhtRsgrG3tvuvtuGhpDlfL+LgFinsC2TutBJo70g8mKIdt+1H1EFb2KqL5DP9ydN1m4r//14RF53vL6Ab7/bdATgl3nkS26enB3Tbmr9EWM/cxgkplG7+zq0LaI1uP81BkNA1edTd1X8btDOK2lr8EW137p5uUo6ga6icr7h/y0dLpF8P9ARn607Oxz9VZTkP7nV3B/svzex2InkA8l0vZGSNqT2seTJzrspG6yfMbUwAD0GMIKK/XHJM81c82az1TNpck2B9iViur01evf8mWX8UxiLvszyOijxMIQm3av/Fq2FTmXJomlqYeyeejbF7RHdIc7lGel9SnmWct7TfVwly4SoadU+hxHsq0m6x0pf80aq0v5B02iISlB+vnnhD9xbu5gf4Nbq5xhkAAA==&quot;"/>
    <we:property name="isFiltersActionButtonVisible" value="false"/>
    <we:property name="isFooterCollapsed" value="true"/>
    <we:property name="isVisualContainerHeaderHidden" value="false"/>
    <we:property name="numberOfAnnotations" value="0"/>
    <we:property name="pageDisplayName" value="&quot;Übersicht – Adoptionen&quot;"/>
    <we:property name="pageName" value="&quot;d18a8f4185ba8ac556bb&quot;"/>
    <we:property name="pptInsertionSessionID" value="&quot;F0248D09-8A22-4B17-8ACF-86F89B384209&quot;"/>
    <we:property name="reportEmbeddedTime" value="&quot;2025-10-08T14:36:04.113Z&quot;"/>
    <we:property name="reportName" value="&quot;Abschluss Mick&quot;"/>
    <we:property name="reportState" value="&quot;CONNECTED&quot;"/>
    <we:property name="reportUrl" value="&quot;/links/HSVv8k9VlK?ctid=7db25319-c04d-4699-88f4-84306cdd3f56&amp;bookmarkGuid=682554ea-cea9-480d-9d96-78ab01d34c6c&amp;visual=21740ce933ea2e7b059b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ADF4FEC9-870B-46B1-935E-E431D241AFD4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Name" value="&quot;Adoptionsrate nach Monat und Jahr&quot;"/>
    <we:property name="artifactViewState" value="&quot;live&quot;"/>
    <we:property name="backgroundColor" value="&quot;#FFF&quot;"/>
    <we:property name="bookmark" value="&quot;H4sIAAAAAAAAA+1ZTW/bOBD9K4EuvRiBqG/l1iQ9bbMImqKLxSIwhuTYZkuLWlJK4gb57x1Kdtu4Tpyk9toB1pfY1Gjmzbw31FC5DaRytYbZnzDF4Ch4jw6/ohITrA5YMAiqfpmP0lhEmHOeZRJSxsoopKumbpSpXHB0GzRgx9h8Uq4F7X3R4j9BIlPkYQECY55yluUiLILLQQBan8PY24xAOxwENVpnKtDqK/Yu6FJjW7wbBHhTa2PBB7pooEEf7IrM6TcBY4cx4QDRqCu8QNH0q5IVUIwSVqQcKHqaZpyTmesNOrwrTbzrLvyJqRpQFYXxa0WaZXkWCplGnEVhiHGY+/WR0s3chM/e3dSWcqZKzGpfshPCOjZWCdBBl4VF14O+DU6Mbqfdt3f31i9MawV+wFF3qWpUMyNPI0pviFdYNW4oNEIV3FFdzq2hqnUGVMrh2Jq2HiqC/QW76xNzfWKRQMjgKLwbfMf1Vl5BJWh1GdQZgmstPhVVODwDN1mGcoZSQXVwCjN30JiDt7KXyApEl7TiVDXWc8Z/FP9jD1To1lF5UfbVOpmAbbzm+Gei0RedHBgr0R7PurqfKrsQQDRYSmHLud1dLjRI5p9/UtlcBD3A7bPuazrvZ+9raqQv5ERJiR3MQRCxPAkFlnGM4Ps5TEv+H0pZqulQ+iZeyuUvxC+SQO9OuAs28fe0egx290K9l8s2tLmexvVKlLkESJIszoEXZRoCC4U3fbTODd403NwsV3dNJJZEPM+jRJZMRqVM0rhYG0lNqb+eFwdCZEUU8wxKRg+MFHgEa3trr1UNVu6XkNcQHbECk4LlBZcJRFlRYronBDi7aJfXysEig/U0xJKPWBonJS+LJE9lEafxjmnY5Fiya0IeH0PWdEgYZ3wEhZAiLstExCjKfZpkXY1C0bng/zngVcwBz+Bz/UCw8rC4+9H0jI6Ck+50/CJRbgbE3wh2D5rixU+xWl2Z5iNw/ctI9dSG2DyZDzbEB3PtNjgU/xyTQvZONxlgLo7LrotYysooZkkZpixHaijB2Gvb4Tfb1FDRLK+XcXCLFPYFUnZaCbT3ZBxM0Y67FiN6oCts3UfymX7f7W67VPzf94q46H1/At16t2+OwSnxxuuyo/IBbXbmLxHPM7dqQgqVW7xz6wNao/vXenMQJGZNHnV/9d8W7Yyidha/RDtcuKeblCPoGmrnK+7f8tESPQU80D9wtu3kfPxzVVWL4F5397D/0MxhL5IHIN/3QkbWmMbDWiSz4KpqtX7CbMYE8BDECCL6FJJjWvzG6WWrz53dNQk214jV9tpk7R67dorJs1EYiyJjRRyVRZhCEu7V/os3w7Y21dC0jTArp5qdsXtKd0hzvUV6X1KedZx3tK+qBLlwNY2z51Dhiop0W6z0JX+0Kt1/SHptEQnKj1BPvKEfCe6+AUUTfo/jGQAA&quot;"/>
    <we:property name="creatorSessionId" value="&quot;e7b1d67a-d694-4745-911a-fad00c0a3ab0&quot;"/>
    <we:property name="creatorTenantId" value="&quot;7db25319-c04d-4699-88f4-84306cdd3f56&quot;"/>
    <we:property name="creatorUserId" value="&quot;10032004B43912AC&quot;"/>
    <we:property name="datasetId" value="&quot;8ae6325e-e960-4e22-9dad-ac23f98de1b8&quot;"/>
    <we:property name="embedUrl" value="&quot;/reportEmbed?reportId=9bc4c742-2e3b-4c78-bf50-fce42bfdd82b&amp;groupId=c393bef6-61f1-4905-8799-b7feadfa2c4b&amp;w=2&amp;config=eyJjbHVzdGVyVXJsIjoiaHR0cHM6Ly9XQUJJLUdFUk1BTlktV0VTVC1DRU5UUkFMLVBSSU1BUlktcmVkaXJlY3QuYW5hbHlzaXMud2luZG93cy5uZXQiLCJlbWJlZEZlYXR1cmVzIjp7InVzYWdlTWV0cmljc1ZOZXh0Ijp0cnVlfX0%3D&amp;disableSensitivityBanner=true&amp;storytellingAnnotations=true&amp;storytellingChangeViewModeShortcutKeys=true&quot;"/>
    <we:property name="initialStateBookmark" value="&quot;H4sIAAAAAAAAA+1ZW2/bOgz+K4Vf9mIUli+x3bde9jC02Ypu2MHBQRFQEpNoc2wfyWmbFf3vo+R4XbN23rrkJAVOgQKxRJMfyY8Uldx6Upm6gMVbmKF34J2hwS+oxBTLPeb5XtkuH717dzo8vDgdvT0cvqblqm5UVRrv4NZrQE+w+ajMHAqrhBb/ufQ9KIpzmNinMRQGfa9GbaoSCvUFW2HaavQc73wPb+qi0mBVvm+gQav2isTpmWyz/YgsgmjUFb5H0bSrkmWQjWOWJRwyEEky4JzETCvgkD0qYlU788dV2YAqyYxdy5LBIB0EQiYhZ2EQYBSkdn2simYpwhevb2pN3pHPi9pG5ZiwTiqtBBSe80KjaUHfesdVMZ+5T68frL+v5lrgBY7dVtmoZkGaxuTeCK+wbMxIFAild0dxOdcVRc0JUChHE13N65Ei2J/R7U+r62ONBEJ6B8Gd/w3XobyCUtDqKqghgplr/FVUwWgIZroKZYhSQbl3Aguz11R7h7IlwyOILmnFqHJSLDN+H/wPLVBRzA2FF2UbreMp6Mayi3+iNNqgk4JKS9RHCxf3E6U7AoT+igsb9u3usuMgiX/6jmVLErQAN591G9NlyVpds0raQE6VlOhg+l7I0jgQmEcRQogpD5Kc/4dUlmo2kraIV3z5C/GzJNDbI26XTfwzrh6B3j5RH/iyCW72p7GfiTKVAHE8iFLgWZ4EwAJhRX8a5wZvGl7drEa3xxKLQ56mYSxzJsNcxkmU9VpSM6qv37MDAbIsjPgAckYHRgI8hN7a2mlWg5a7ReSeRIcswzhjacZlDOEgyzHZkQQY3ZXLS81B50F/GiLJxyyJ4pznWZwmMouSaMtpWOdYsu2E/HwM6amQIBrwMWRCiijPYxGhyHdpkjU1CkX3gv/ngBcxB/xGPvsHglgmyAO6i2HEE84GqQiyHRhNh3QVnLoL8LNIuR4QfyPoHSiKZ59itbqqmg/Aix9GqicKgq0WxPqT+WRBXFTXZo1D8fc2yWSrdJ0GluS4dHlRk2lB/40bcLHo4knG6FUYQm03Ok3799ishBGk841swz2rQSvTBb97OlWlzbjvneG42VSRXXQOnCmq/JZOH6GYWya9OsEvOOOoX9kULo+8pTcuENt15Fuh/syHMGDZ2RI+ic6wAZscgr6sv/2HBXdpvWzb4D224be3br8r+U0R1183WX0apMQUpYvJmwZnLXJFxwFpUGheLCP9F8U/37uyq8vGENBu5w51arYUbrsLaWUJy8OIxXmQsBTpuBaMvbT5cb0jA5RqRopWcHCNZPYZB6UplHChvz8kqT/oiTvAl03i1qtbS65Kulmq7QJPcfQIjBJdy3RfVjx28jnx57SQ3xwECSmUpvtGvzWoq8J96kAQMwvSWLS7/85RL8iqk/jB2n6nnl5ShqAXUBsbcfsbgt81lcUpLjbtnLV/rsqyM2559wD7PWf2W5I8AfmhFhLSVeXquXOmy1U5L4pfuPkxATwAMYaQ/jLJMcn+4LuRjU612ysSbK4Ry82VSe8E13tHSgfjIBLZgGVRmGdBAnGwU/0Xb0bzuipH1bwR1aN3pq1l94TekNX1BtP7nPD05dyl/bFIkApT02X5HEp8JCKuxUqUPVFxv7+23KIkKHtB+8UX2pHg7itNNeAhJB4AAA==&quot;"/>
    <we:property name="isFiltersActionButtonVisible" value="false"/>
    <we:property name="isFooterCollapsed" value="true"/>
    <we:property name="isVisualContainerHeaderHidden" value="false"/>
    <we:property name="pageDisplayName" value="&quot;Übersicht – Adoptionen&quot;"/>
    <we:property name="pageName" value="&quot;d18a8f4185ba8ac556bb&quot;"/>
    <we:property name="pptInsertionSessionID" value="&quot;F0248D09-8A22-4B17-8ACF-86F89B384209&quot;"/>
    <we:property name="reportEmbeddedTime" value="&quot;2025-10-08T14:47:03.332Z&quot;"/>
    <we:property name="reportName" value="&quot;Abschluss Mick&quot;"/>
    <we:property name="reportState" value="&quot;CONNECTED&quot;"/>
    <we:property name="reportUrl" value="&quot;/links/HSVv8k9VlK?ctid=7db25319-c04d-4699-88f4-84306cdd3f56&amp;bookmarkGuid=33bfc392-f879-450b-adf6-4cf2161ce184&amp;visual=4d5eb08ace3b5b167c08&quot;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16D1CCE3-DB9F-47CD-905F-B0493D25C6E0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Name" value="&quot;Euthanasie-Rate nach Spezies&quot;"/>
    <we:property name="artifactViewState" value="&quot;live&quot;"/>
    <we:property name="backgroundColor" value="&quot;#FFF&quot;"/>
    <we:property name="bookmark" value="&quot;H4sIAAAAAAAAA+1YS2/bOBD+KwtdejEWpGi9ckvcnNq0QbMosFgExogc2ezKlEBSadzA/32HUpKmqWM3AdIqxV4sczia1/fNUNJVpLRra1i/gxVGB9FbdPgFtVyi+YNHk8gM4qP379+cHH54M393eHJM4qb1ujEuOriKPNgF+o/adVAHIyT853wSQV2fwiKsKqgdTqIWrWsM1PoLDsq05W2Hm0mEl23dWAgmzzx4DGYvSJ3W5Jv/KcgjSK8v8AylH6RCSSZLHgPgNEnKmEmBpOYGhT6yrSrBdO9+1hgP2pCbIEtVzqFMkMdSJJyVZcqyIK907a9VyvXxZWspO8p53YaqHKoLMBJV1Kdg0Q0RX0UnCK6zvbPjbzbOms5K/IBVv2W89muyw+Yn4JbRhkpxahsqVC897vwSDDiNNtQk7C6bzzOLtFLRAdtMbgOZkWjRWC2h/i6WWVN3K/OjoVRU5zleoPFuLmsEcz+q0iJ5H0kwrkWpiWPfh3NOEqfNor4m21fc/xqilHXnCFlUR2BnS7A+sLr8RPQJYNPdjVVoj9Y93q+1vSFePLkX+vNgvTm/oTxpfbpD6uvqDnE9WznPN2ErKzkIWSSizFL6jYGlfG9T/ET4ab7MF7bp2rmmXv53d4/8rGY1vxMbza+i4hZoQxGvD6tga9WoULmlVmoIk3AFEcdVXqgCaYJzlGzKRjPEn8YLsGpkVNgNQUFnLlRlyhOmRCLlVOU9BDuz9Hjpy+byfqK7PYk4TyqRVblSecoSZIylez3pFRHrcX44S1QseJbmU0ZZiSzL0jENwaE/5rIxSvdMGMMQfOCJ5cXOwV95Km8BeP8ozBI5xVjyPJ2WdEkgK3A0o/DJ7BjPNLxDiN1AVFUqkaWJKNKYCZlzPk1e2PjYi4urtUT7DTLRCum1MPxR4KHPrR2chgfM21Jd9cmF61tN5Rhsf4S6C2ZfHVGl5atQx/6J9IHe69XdaDqv4LyQSkyZ5DKGFJBOwqd33uMyUno1VzfNdSeRvxHsqIBF/xnRPB+0ewqxH8VExhVnsUhEUqDgmMkif2Ft+/+rz8t89XnC1Okpu61Hm867FiSegsEtvUpsAKNQ7enX/gve0BcEnS7rfQ1+e8PwJWHzH/WuwsFmFAAA&quot;"/>
    <we:property name="creatorSessionId" value="&quot;d69335fd-fbcc-476f-9cbf-1067c5cd422a&quot;"/>
    <we:property name="creatorTenantId" value="&quot;7db25319-c04d-4699-88f4-84306cdd3f56&quot;"/>
    <we:property name="creatorUserId" value="&quot;10032004B43912AC&quot;"/>
    <we:property name="datasetId" value="&quot;8ae6325e-e960-4e22-9dad-ac23f98de1b8&quot;"/>
    <we:property name="embedUrl" value="&quot;/reportEmbed?reportId=9bc4c742-2e3b-4c78-bf50-fce42bfdd82b&amp;groupId=c393bef6-61f1-4905-8799-b7feadfa2c4b&amp;w=2&amp;config=eyJjbHVzdGVyVXJsIjoiaHR0cHM6Ly9XQUJJLUdFUk1BTlktV0VTVC1DRU5UUkFMLVBSSU1BUlktcmVkaXJlY3QuYW5hbHlzaXMud2luZG93cy5uZXQiLCJlbWJlZEZlYXR1cmVzIjp7InVzYWdlTWV0cmljc1ZOZXh0Ijp0cnVlfX0%3D&amp;disableSensitivityBanner=true&amp;storytellingAnnotations=true&amp;storytellingChangeViewModeShortcutKeys=true&quot;"/>
    <we:property name="initialStateBookmark" value="&quot;H4sIAAAAAAAAA+1YS2/bOBD+KwtdejEWpGi9ckvcnNq0QbMosFgExogc2ezKlEBSadzA/32HUpKmqWM3AdIqxV4sczia1/fNUNJVpLRra1i/gxVGB9FbdPgFtVyi+YNHk8gM4qP379+cHH54M393eHJM4qb1ujEuOriKPNgF+o/adVAHIyT853wSQV2fwiKsKqgdTqIWrWsM1PoLDsq05W2Hm0mEl23dWAgmzzx4DGYvSJ3W5Jv/KcgjSK8v8AylH6RCSSZLHgPgNEnKmEmBpOYGhT6yrSrBdO9+1hgP2pCbIEtVzqFMkMdSJJyVZcqyIK907a9VyvXxZWspO8p53YaqHKoLMBJV1Kdg0Q0RX0UnCK6zvbPjbzbOms5K/IBVv2W89muyw+Yn4JbRhkpxahsqVC897vwSDDiNNtQk7C6bzzOLtFLRAdtMbgOZkWjRWC2h/i6WWVN3K/OjoVRU5zleoPFuLmsEcz+q0iJ5H0kwrkWpiWPfh3NOEqfNor4m21fc/xqilHXnCFlUR2BnS7A+sLr8RPQJYNPdjVVoj9Y93q+1vSFePLkX+vNgvTm/oTxpfbpD6uvqDnE9WznPN2ErKzkIWSSizFL6jYGlfG9T/ET4ab7MF7bp2rmmXv53d4/8rGY1vxMbza+i4hZoQxGvD6tga9WoULmlVmoIk3AFEcdVXqgCaYJzlGzKRjPEn8YLsGpkVNgNQUFnLlRlyhOmRCLlVOU9BDuz9Hjpy+byfqK7PYk4TyqRVblSecoSZIylez3pFRHrcX44S1QseJbmU0ZZiSzL0jENwaE/5rIxSvdMGMMQfOCJ5cXOwV95Km8BeP8ozBI5xVjyPJ2WdEkgK3A0o/DJ7BjPNLxDiN1AVFUqkaWJKNKYCZlzPk1e2PjYi4urtUT7DTLRCum1MPxR4KHPrR2chgfM21Jd9cmF61tN5Rhsf4S6C2ZfHVGl5atQx/6J9IHe69XdaDqv4LyQSkyZ5DKGFJBOwqd33uMyUno1VzfNdSeRvxHsqIBF/xnRPB+0ewqxH8VExhVnsUhEUqDgmMkif2Ft+/+rz8t89XnC1Okpu61Hm867FiSegsEtvUpsAKNQ7enX/gve0BcEnS7rfQ1+e8PwJWHzH/WuwsFmFAAA&quot;"/>
    <we:property name="isFiltersActionButtonVisible" value="false"/>
    <we:property name="isFooterCollapsed" value="true"/>
    <we:property name="isVisualContainerHeaderHidden" value="false"/>
    <we:property name="numberOfAnnotations" value="0"/>
    <we:property name="pageDisplayName" value="&quot;Übersicht – Euthanasien&quot;"/>
    <we:property name="pageName" value="&quot;3dc0cb12aae455b20c3e&quot;"/>
    <we:property name="pptInsertionSessionID" value="&quot;F0248D09-8A22-4B17-8ACF-86F89B384209&quot;"/>
    <we:property name="reportEmbeddedTime" value="&quot;2025-10-08T14:40:43.545Z&quot;"/>
    <we:property name="reportName" value="&quot;Abschluss Mick&quot;"/>
    <we:property name="reportState" value="&quot;CONNECTED&quot;"/>
    <we:property name="reportUrl" value="&quot;/links/HSVv8k9VlK?ctid=7db25319-c04d-4699-88f4-84306cdd3f56&amp;bookmarkGuid=ec292e1a-8fbb-456b-9bfc-c026427e7388&amp;visual=6d81ab5e12c3510bb607&quot;"/>
  </we:properties>
  <we:bindings/>
  <we:snapshot xmlns:r="http://schemas.openxmlformats.org/officeDocument/2006/relationships"/>
</we:webextension>
</file>

<file path=ppt/webextensions/webextension6.xml><?xml version="1.0" encoding="utf-8"?>
<we:webextension xmlns:we="http://schemas.microsoft.com/office/webextensions/webextension/2010/11" id="{9EBFF5E4-9742-46C3-83AC-B58FD2281B3B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Name" value="&quot;Euthanasie nach Gesundheitsstatus&quot;"/>
    <we:property name="artifactViewState" value="&quot;live&quot;"/>
    <we:property name="backgroundColor" value="&quot;#FFF&quot;"/>
    <we:property name="bookmark" value="&quot;H4sIAAAAAAAAA+1YS2/bOBD+KwtdejEWpGi9ckvcnNq0QbMoUCwCY0SObHZlSiCpNG7g/75DycmmqWu3AdIqxfpgWcPhvL5vhpJvIqVdW8P6DawwOopeo8PPqOUSzR88mkRmEJ+8ffvq7Pjdq/mb47NTEjet141x0dFN5MEu0L/XroM6GCHh35eTCOr6HBbhroLa4SRq0brGQK0/46BMS952uJlEeN3WjYVg8sKDx2D2itTpnnzzPwV5BOn1FV6g9INUKMlkyWMAnCZJGTMpkNTcoNBHtlMlmO7dzxrjQRtyE2SpyjmUCfJYioSzskxZFuSVrv1WpVyfXreWsqOc122oyrG6AiNRRX0KFt0Q8U10huA62zs7/WLhoumsxHdY9UvGa78mO2x+Bm4ZbagU57ahQvXS084vwYDTaENNwuqy+TSzSHcqOmKbyV0gMxItGqsl1F/FMmvqbmW+N5SK6jzHKzTezWWNYB5GVVok7yMJxrUoNXHs63AuSeK0WdRbsv2H+19DlLLuHCGL6gTsbAnWB1aXH4k+AWza3ViF9mTd4/1S21vixZMHoT8N1pvLW8qT1sd7pN5Wd4jrycoZyrcdDMHEqlGhZkutFIZdtJqVHIQsElFmKX3HwFJ+sGF+IjVo9swXtunauaY+/2d///ysRja/E1PNr6LpDmgP8xVBxHGVF6pAmu4cJZuy0Qz4x/ECrBoZFfZDUNB5DFWZ8oQpkUg5VXkPwd4sPV77srl+mOh+TyLOk0pkVa5UnrIEGWPpQU96RcT6MT+cJSoWPEvzKaOsRJZl6ZiG4NAfc9kYpXsmjGEIfuNp5tnOwV95Yu8A+DuO7kROMZY8T6clXRLIChzNKHw0O8YzDe8RYj8QVZVKZGkiijRmQuacT5NnNj4O4uJqLdF+gUy0QnplDD8UeOhzawen4eHzrlQ3fXLh+lpTOQbb76HugtkXJ1Rp+SLUMVB+843e69XdaDqv4LyQSkyZ5DKGFJBOwsd33o9lpPRqrm6b614iHxDsqIBF/wnRPB20BwpxGMVExhVnsUhEUqDgmMkif2Zt+/+rz/N89dk5dfrP7j5sOu9akHgOBnf0IyEORqE60JP9P3gD9wkeXdaHmvhuwza8fwF+S7/FZhQAAA==&quot;"/>
    <we:property name="creatorSessionId" value="&quot;b79a0123-644f-460d-8ceb-e99e9eac8d66&quot;"/>
    <we:property name="creatorTenantId" value="&quot;7db25319-c04d-4699-88f4-84306cdd3f56&quot;"/>
    <we:property name="creatorUserId" value="&quot;10032004B43912AC&quot;"/>
    <we:property name="datasetId" value="&quot;8ae6325e-e960-4e22-9dad-ac23f98de1b8&quot;"/>
    <we:property name="embedUrl" value="&quot;/reportEmbed?reportId=9bc4c742-2e3b-4c78-bf50-fce42bfdd82b&amp;groupId=c393bef6-61f1-4905-8799-b7feadfa2c4b&amp;w=2&amp;config=eyJjbHVzdGVyVXJsIjoiaHR0cHM6Ly9XQUJJLUdFUk1BTlktV0VTVC1DRU5UUkFMLVBSSU1BUlktcmVkaXJlY3QuYW5hbHlzaXMud2luZG93cy5uZXQiLCJlbWJlZEZlYXR1cmVzIjp7InVzYWdlTWV0cmljc1ZOZXh0Ijp0cnVlfX0%3D&amp;disableSensitivityBanner=true&amp;storytellingAnnotations=true&amp;storytellingChangeViewModeShortcutKeys=true&quot;"/>
    <we:property name="initialStateBookmark" value="&quot;H4sIAAAAAAAAA+1YS2/bOBD+KwtdejEWpGi9ckvcnNq0QbMoUCwCY0SObHZlSiCpNG7g/75DycmmqWu3AdIqxfpgWcPhvL5vhpJvIqVdW8P6DawwOopeo8PPqOUSzR88mkRmEJ+8ffvq7Pjdq/mb47NTEjet141x0dFN5MEu0L/XroM6GCHh35eTCOr6HBbhroLa4SRq0brGQK0/46BMS952uJlEeN3WjYVg8sKDx2D2itTpnnzzPwV5BOn1FV6g9INUKMlkyWMAnCZJGTMpkNTcoNBHtlMlmO7dzxrjQRtyE2SpyjmUCfJYioSzskxZFuSVrv1WpVyfXreWsqOc122oyrG6AiNRRX0KFt0Q8U10huA62zs7/WLhoumsxHdY9UvGa78mO2x+Bm4ZbagU57ahQvXS084vwYDTaENNwuqy+TSzSHcqOmKbyV0gMxItGqsl1F/FMmvqbmW+N5SK6jzHKzTezWWNYB5GVVok7yMJxrUoNXHs63AuSeK0WdRbsv2H+19DlLLuHCGL6gTsbAnWB1aXH4k+AWza3ViF9mTd4/1S21vixZMHoT8N1pvLW8qT1sd7pN5Wd4jrycoZyrcdDMHEqlGhZkutFIZdtJqVHIQsElFmKX3HwFJ+sGF+IjVo9swXtunauaY+/2d///ysRja/E1PNr6LpDmgP8xVBxHGVF6pAmu4cJZuy0Qz4x/ECrBoZFfZDUNB5DFWZ8oQpkUg5VXkPwd4sPV77srl+mOh+TyLOk0pkVa5UnrIEGWPpQU96RcT6MT+cJSoWPEvzKaOsRJZl6ZiG4NAfc9kYpXsmjGEIfuNp5tnOwV95Yu8A+DuO7kROMZY8T6clXRLIChzNKHw0O8YzDe8RYj8QVZVKZGkiijRmQuacT5NnNj4O4uJqLdF+gUy0QnplDD8UeOhzawen4eHzrlQ3fXLh+lpTOQbb76HugtkXJ1Rp+SLUMVB+843e69XdaDqv4LyQSkyZ5DKGFJBOwsd33o9lpPRqrm6b614iHxDsqIBF/wnRPB20BwpxGMVExhVnsUhEUqDgmMkif2Zt+/+rz/N89dk5dfrP7j5sOu9akHgOBnf0IyEORqE60JP9P3gD9wkeXdaHmvhuwza8fwF+S7/FZhQAAA==&quot;"/>
    <we:property name="isFiltersActionButtonVisible" value="false"/>
    <we:property name="isFooterCollapsed" value="true"/>
    <we:property name="isVisualContainerHeaderHidden" value="false"/>
    <we:property name="numberOfAnnotations" value="0"/>
    <we:property name="pageDisplayName" value="&quot;Übersicht – Euthanasien&quot;"/>
    <we:property name="pageName" value="&quot;3dc0cb12aae455b20c3e&quot;"/>
    <we:property name="pptInsertionSessionID" value="&quot;F0248D09-8A22-4B17-8ACF-86F89B384209&quot;"/>
    <we:property name="reportEmbeddedTime" value="&quot;2025-10-08T14:42:17.012Z&quot;"/>
    <we:property name="reportName" value="&quot;Abschluss Mick&quot;"/>
    <we:property name="reportState" value="&quot;CONNECTED&quot;"/>
    <we:property name="reportUrl" value="&quot;/links/HSVv8k9VlK?ctid=7db25319-c04d-4699-88f4-84306cdd3f56&amp;bookmarkGuid=81955786-6cae-4880-8c7f-49f16efc2cb9&amp;visual=5c2f10235359e31e7c98&quot;"/>
  </we:properties>
  <we:bindings/>
  <we:snapshot xmlns:r="http://schemas.openxmlformats.org/officeDocument/2006/relationships"/>
</we:webextension>
</file>

<file path=ppt/webextensions/webextension7.xml><?xml version="1.0" encoding="utf-8"?>
<we:webextension xmlns:we="http://schemas.microsoft.com/office/webextensions/webextension/2010/11" id="{BDECA661-8D82-409B-AFD9-06D10174BBB2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Name" value="&quot;Euthanasie nach Gesundheitsstatus&quot;"/>
    <we:property name="artifactViewState" value="&quot;live&quot;"/>
    <we:property name="backgroundColor" value="&quot;#FFF&quot;"/>
    <we:property name="bookmark" value="&quot;H4sIAAAAAAAAA+1YS2/bOBD+KwtdejEWpGi9ckvcnNq0QbMoUCwCY0SObHZlSiCpNG7g/75DycmmqWu3AdIqxfpgWcPhvL5vhpJvIqVdW8P6DawwOopeo8PPqOUSzR88mkRmEJ+8ffvq7Pjdq/mb47NTEjet141x0dFN5MEu0L/XroM6GCHh35eTCOr6HBbhroLa4SRq0brGQK0/46BMS952uJlEeN3WjYVg8sKDx2D2itTpnnzzPwV5BOn1FV6g9INUKMlkyWMAnCZJGTMpkNTcoNBHtlMlmO7dzxrjQRtyE2SpyjmUCfJYioSzskxZFuSVrv1WpVyfXreWsqOc122oyrG6AiNRRX0KFt0Q8U10huA62zs7/WLhoumsxHdY9UvGa78mO2x+Bm4ZbagU57ahQvXS084vwYDTaENNwuqy+TSzSHcqOmKbyV0gMxItGqsl1F/FMmvqbmW+N5SK6jzHKzTezWWNYB5GVVok7yMJxrUoNXHs63AuSeK0WdRbsv2H+19DlLLuHCGL6gTsbAnWB1aXH4k+AWza3ViF9mTd4/1S21vixZMHoT8N1pvLW8qT1sd7pN5Wd4jrycoZyrcdDMHEqlGhZkutFIZdtJqVHIQsElFmKX3HwFJ+sGF+IjVo9swXtunauaY+/2d///ysRja/E1PNr6LpDmgP8xVBxHGVF6pAmu4cJZuy0Qz4x/ECrBoZFfZDUNB5DFWZ8oQpkUg5VXkPwd4sPV77srl+mOh+TyLOk0pkVa5UnrIEGWPpQU96RcT6MT+cJSoWPEvzKaOsRJZl6ZiG4NAfc9kYpXsmjGEIfuNp5tnOwV95Yu8A+DuO7kROMZY8T6clXRLIChzNKHw0O8YzDe8RYj8QVZVKZGkiijRmQuacT5NnNj4O4uJqLdF+gUy0QnplDD8UeOhzawen4eHzrlQ3fXLh+lpTOQbb76HugtkXJ1Rp+SLUMVB+843e69XdaDqv4LyQSkyZ5DKGFJBOwsd33o9lpPRqrm6b614iHxDsqIBF/wnRPB20BwpxGMVExhVnsUhEUqDgmMkif2Zt+/+rz/N89dk5dfrP7j5sOu9akHgOBnf0IyEORqE60JP9P3gD9wkeXdaHmvhuwza8fwF+S7/FZhQAAA==&quot;"/>
    <we:property name="creatorSessionId" value="&quot;f481ab4d-54c9-4c31-872e-2ea7764c0ef5&quot;"/>
    <we:property name="creatorTenantId" value="&quot;7db25319-c04d-4699-88f4-84306cdd3f56&quot;"/>
    <we:property name="creatorUserId" value="&quot;10032004B43912AC&quot;"/>
    <we:property name="datasetId" value="&quot;8ae6325e-e960-4e22-9dad-ac23f98de1b8&quot;"/>
    <we:property name="embedUrl" value="&quot;/reportEmbed?reportId=9bc4c742-2e3b-4c78-bf50-fce42bfdd82b&amp;groupId=c393bef6-61f1-4905-8799-b7feadfa2c4b&amp;w=2&amp;config=eyJjbHVzdGVyVXJsIjoiaHR0cHM6Ly9XQUJJLUdFUk1BTlktV0VTVC1DRU5UUkFMLVBSSU1BUlktcmVkaXJlY3QuYW5hbHlzaXMud2luZG93cy5uZXQiLCJlbWJlZEZlYXR1cmVzIjp7InVzYWdlTWV0cmljc1ZOZXh0Ijp0cnVlfX0%3D&amp;disableSensitivityBanner=true&amp;storytellingAnnotations=true&amp;storytellingChangeViewModeShortcutKeys=true&quot;"/>
    <we:property name="initialStateBookmark" value="&quot;H4sIAAAAAAAAA+1YS2/bOBD+KwtdejEWpGi9ckvcnNq0QbMoUCwCY0SObHZlSiCpNG7g/75DycmmqWu3AdIqxfpgWcPhvL5vhpJvIqVdW8P6DawwOopeo8PPqOUSzR88mkRmEJ+8ffvq7Pjdq/mb47NTEjet141x0dFN5MEu0L/XroM6GCHh35eTCOr6HBbhroLa4SRq0brGQK0/46BMS952uJlEeN3WjYVg8sKDx2D2itTpnnzzPwV5BOn1FV6g9INUKMlkyWMAnCZJGTMpkNTcoNBHtlMlmO7dzxrjQRtyE2SpyjmUCfJYioSzskxZFuSVrv1WpVyfXreWsqOc122oyrG6AiNRRX0KFt0Q8U10huA62zs7/WLhoumsxHdY9UvGa78mO2x+Bm4ZbagU57ahQvXS084vwYDTaENNwuqy+TSzSHcqOmKbyV0gMxItGqsl1F/FMmvqbmW+N5SK6jzHKzTezWWNYB5GVVok7yMJxrUoNXHs63AuSeK0WdRbsv2H+19DlLLuHCGL6gTsbAnWB1aXH4k+AWza3ViF9mTd4/1S21vixZMHoT8N1pvLW8qT1sd7pN5Wd4jrycoZyrcdDMHEqlGhZkutFIZdtJqVHIQsElFmKX3HwFJ+sGF+IjVo9swXtunauaY+/2d///ysRja/E1PNr6LpDmgP8xVBxHGVF6pAmu4cJZuy0Qz4x/ECrBoZFfZDUNB5DFWZ8oQpkUg5VXkPwd4sPV77srl+mOh+TyLOk0pkVa5UnrIEGWPpQU96RcT6MT+cJSoWPEvzKaOsRJZl6ZiG4NAfc9kYpXsmjGEIfuNp5tnOwV95Yu8A+DuO7kROMZY8T6clXRLIChzNKHw0O8YzDe8RYj8QVZVKZGkiijRmQuacT5NnNj4O4uJqLdF+gUy0QnplDD8UeOhzawen4eHzrlQ3fXLh+lpTOQbb76HugtkXJ1Rp+SLUMVB+843e69XdaDqv4LyQSkyZ5DKGFJBOwsd33o9lpPRqrm6b614iHxDsqIBF/wnRPB20BwpxGMVExhVnsUhEUqDgmMkif2Zt+/+rz/N89dk5dfrP7j5sOu9akHgOBnf0IyEORqE60JP9P3gD9wkeXdaHmvhuwza8fwF+S7/FZhQAAA==&quot;"/>
    <we:property name="isFiltersActionButtonVisible" value="false"/>
    <we:property name="isFooterCollapsed" value="true"/>
    <we:property name="isVisualContainerHeaderHidden" value="false"/>
    <we:property name="numberOfAnnotations" value="0"/>
    <we:property name="pageDisplayName" value="&quot;Übersicht – Euthanasien&quot;"/>
    <we:property name="pageName" value="&quot;3dc0cb12aae455b20c3e&quot;"/>
    <we:property name="pptInsertionSessionID" value="&quot;F0248D09-8A22-4B17-8ACF-86F89B384209&quot;"/>
    <we:property name="reportEmbeddedTime" value="&quot;2025-10-08T14:38:21.348Z&quot;"/>
    <we:property name="reportName" value="&quot;Abschluss Mick&quot;"/>
    <we:property name="reportState" value="&quot;CONNECTED&quot;"/>
    <we:property name="reportUrl" value="&quot;/links/HSVv8k9VlK?ctid=7db25319-c04d-4699-88f4-84306cdd3f56&amp;bookmarkGuid=5f174ad4-a9ef-4de2-85cd-9c6578394e85&amp;visual=5c2f10235359e31e7c98&quot;"/>
  </we:properties>
  <we:bindings/>
  <we:snapshot xmlns:r="http://schemas.openxmlformats.org/officeDocument/2006/relationships"/>
</we:webextension>
</file>

<file path=ppt/webextensions/webextension8.xml><?xml version="1.0" encoding="utf-8"?>
<we:webextension xmlns:we="http://schemas.microsoft.com/office/webextensions/webextension/2010/11" id="{F299EBBE-0BED-4E7A-AD84-CD23B2D05DB3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Name" value="&quot;Intakes Gesundheitsstatus&quot;"/>
    <we:property name="artifactViewState" value="&quot;live&quot;"/>
    <we:property name="backgroundColor" value="&quot;#FFF&quot;"/>
    <we:property name="bookmark" value="&quot;H4sIAAAAAAAAA+1Z3W/bOAz/Vwa/7CUoJH/F7lvb68Oh61qshx4OhyKgJLrR5sg5We6aFfnfR9nNtqRd3c+kB/SpjkSTP/5IipR7FShdT0uYfYQJBtvBB6zxG2o5RvOOB4PAdMu7R0cHhzufDkYfdw73abmaOl2ZOti+ChzYc3Snum6g9Epo8d+zQQBleQzn/lcBZY2DYIq2rgyU+ht2wrTlbIPzQYCX07Ky4FWeOHDo1V6QOP0m23yLJ2QSpNMXeILSXS8DZzlPijxLIUp4nDLFSKzuBFpot4p43a39vco40Ibs+LWkEKIII6ZCLhhDjnwY+/Vam/PyGvHPd/+aTT0tDi+dqC49IeIzGfaayJ9rSr34pFJecKyVQhPM57Sb85gJyCMeAscQ4zASwosWunTXYMRs/3JqiUiit7O0oy7ASFRBy5bFuiPnKjhEqBvbUra/tHFSNVbiJyzaLeO0I0ABGx1CPQ48jmNbUUza1T+JiS8UK788rr7uWaQoqGCbzc9o5U4KJFi16n9lFdrdWYv/D20XIQsHKxCfGfv8rI96LPIw5kOeRyhZmGQsYZumfr9xYzBQ6xbjY+mHxlUnWBLTp7/s+vJ6UGqmIRRJlsZCJqFKwgREznr52SOw55XVkuCtUrRXlc3E3JchpScj5et/haNDqtTxLewM+mP0PAD+QbB32n95Dv5G/KIocI9i4YUPiXUhOGqcrCaPPKfKpqYcRrULdm8M1r2iQ6trbbT9+ZfmdZ1SHaBnTeOz3nNgiEwwWbBU5lxQr1IAfI3nQEGEjPACjatHskQwq47UU5S6JxWftyTB6AkpWsEhLJLZ11iSb/XwuHzqr41QJCJPGBcpch6rnAHghmeIHdXN47eOEOvKxbsHmbW1CDdG++4pjUJVpnGbr4hlOvtH26HkMUgpM4zy4ZDSE+AJo+2Ljk29IahLLdEu0R9MkK6Z/oEMQevDtDPk6/YHJVetH/7vB01ud7pPoWy82ve76L4imveeMV/q898cNe0L9SYabxxylkZ5JHLJU3oIo+it8T6g8W4utahS5csl1gM7GCEFUy8+p3QGbVW2TwsQdKKUpLHsdv9r0M7Iaitxw9rWQj29pGuCXsK09ox3N0xN+euBHuDspZ3z9o+1MQvjPu+WsP/Mma0uSX4DeVkLCdmqch7WwplFrExTlvc4f7NhEfEoYSFjLOYqy0OWe9E7s5FgUuY96Iqe8RjTmIcgMpGpCHIWDV/z+PH6PyAtwe8PdJwqUUR0QUp9pEPIhkxtOABPH3o2HoQbLvQHIlUxj+iOmiU0+EQ5C1OWbTgQ9/lEssZurVs4I1kZpdvgvd0Tn53QszYXC5EMVazCXGKqopjlAP25uM65DS9HzbQyo86Dt08W//tUvBnRvttFm6i3jb1V4+opSDwGg7eMv+0wqVD1jMDtv/m6k5mipkXZNzP/eKErovl3woyk+4scAAA=&quot;"/>
    <we:property name="creatorSessionId" value="&quot;4bd59e9f-6c49-4c4f-a039-b1a09d4362f0&quot;"/>
    <we:property name="creatorTenantId" value="&quot;7db25319-c04d-4699-88f4-84306cdd3f56&quot;"/>
    <we:property name="creatorUserId" value="&quot;10032004B43912AC&quot;"/>
    <we:property name="datasetId" value="&quot;8ae6325e-e960-4e22-9dad-ac23f98de1b8&quot;"/>
    <we:property name="embedUrl" value="&quot;/reportEmbed?reportId=9bc4c742-2e3b-4c78-bf50-fce42bfdd82b&amp;groupId=c393bef6-61f1-4905-8799-b7feadfa2c4b&amp;w=2&amp;config=eyJjbHVzdGVyVXJsIjoiaHR0cHM6Ly9XQUJJLUdFUk1BTlktV0VTVC1DRU5UUkFMLVBSSU1BUlktcmVkaXJlY3QuYW5hbHlzaXMud2luZG93cy5uZXQiLCJlbWJlZEZlYXR1cmVzIjp7InVzYWdlTWV0cmljc1ZOZXh0Ijp0cnVlfX0%3D&amp;disableSensitivityBanner=true&amp;storytellingAnnotations=true&amp;storytellingChangeViewModeShortcutKeys=true&quot;"/>
    <we:property name="initialStateBookmark" value="&quot;H4sIAAAAAAAAA+1Z3W/bOAz/Vwa/7CUoJH/F7lvb68Oh61qshx4OhyKgJLrR5sg5We6aFfnfR9nNtqRd3c+kB/SpjkSTP/5IipR7FShdT0uYfYQJBtvBB6zxG2o5RvOOB4PAdMu7R0cHhzufDkYfdw73abmaOl2ZOti+ChzYc3Snum6g9Epo8d+zQQBleQzn/lcBZY2DYIq2rgyU+ht2wrTlbIPzQYCX07Ky4FWeOHDo1V6QOP0m23yLJ2QSpNMXeILSXS8DZzlPijxLIUp4nDLFSKzuBFpot4p43a39vco40Ibs+LWkEKIII6ZCLhhDjnwY+/Vam/PyGvHPd/+aTT0tDi+dqC49IeIzGfaayJ9rSr34pFJecKyVQhPM57Sb85gJyCMeAscQ4zASwosWunTXYMRs/3JqiUiit7O0oy7ASFRBy5bFuiPnKjhEqBvbUra/tHFSNVbiJyzaLeO0I0ABGx1CPQ48jmNbUUza1T+JiS8UK788rr7uWaQoqGCbzc9o5U4KJFi16n9lFdrdWYv/D20XIQsHKxCfGfv8rI96LPIw5kOeRyhZmGQsYZumfr9xYzBQ6xbjY+mHxlUnWBLTp7/s+vJ6UGqmIRRJlsZCJqFKwgREznr52SOw55XVkuCtUrRXlc3E3JchpScj5et/haNDqtTxLewM+mP0PAD+QbB32n95Dv5G/KIocI9i4YUPiXUhOGqcrCaPPKfKpqYcRrULdm8M1r2iQ6trbbT9+ZfmdZ1SHaBnTeOz3nNgiEwwWbBU5lxQr1IAfI3nQEGEjPACjatHskQwq47UU5S6JxWftyTB6AkpWsEhLJLZ11iSb/XwuHzqr41QJCJPGBcpch6rnAHghmeIHdXN47eOEOvKxbsHmbW1CDdG++4pjUJVpnGbr4hlOvtH26HkMUgpM4zy4ZDSE+AJo+2Ljk29IahLLdEu0R9MkK6Z/oEMQevDtDPk6/YHJVetH/7vB01ud7pPoWy82ve76L4imveeMV/q898cNe0L9SYabxxylkZ5JHLJU3oIo+it8T6g8W4utahS5csl1gM7GCEFUy8+p3QGbVW2TwsQdKKUpLHsdv9r0M7Iaitxw9rWQj29pGuCXsK09ox3N0xN+euBHuDspZ3z9o+1MQvjPu+WsP/Mma0uSX4DeVkLCdmqch7WwplFrExTlvc4f7NhEfEoYSFjLOYqy0OWe9E7s5FgUuY96Iqe8RjTmIcgMpGpCHIWDV/z+PH6PyAtwe8PdJwqUUR0QUp9pEPIhkxtOABPH3o2HoQbLvQHIlUxj+iOmiU0+EQ5C1OWbTgQ9/lEssZurVs4I1kZpdvgvd0Tn53QszYXC5EMVazCXGKqopjlAP25uM65DS9HzbQyo86Dt08W//tUvBnRvttFm6i3jb1V4+opSDwGg7eMv+0wqVD1jMDtv/m6k5mipkXZNzP/eKErovl3woyk+4scAAA=&quot;"/>
    <we:property name="isFiltersActionButtonVisible" value="false"/>
    <we:property name="isFooterCollapsed" value="true"/>
    <we:property name="isVisualContainerHeaderHidden" value="false"/>
    <we:property name="numberOfAnnotations" value="0"/>
    <we:property name="pageDisplayName" value="&quot;Übersicht – Intakes und Outcomes&quot;"/>
    <we:property name="pageName" value="&quot;1a10915f986a351460d0&quot;"/>
    <we:property name="pptInsertionSessionID" value="&quot;F0248D09-8A22-4B17-8ACF-86F89B384209&quot;"/>
    <we:property name="reportEmbeddedTime" value="&quot;2025-10-08T14:39:36.806Z&quot;"/>
    <we:property name="reportName" value="&quot;Abschluss Mick&quot;"/>
    <we:property name="reportState" value="&quot;CONNECTED&quot;"/>
    <we:property name="reportUrl" value="&quot;/links/HSVv8k9VlK?ctid=7db25319-c04d-4699-88f4-84306cdd3f56&amp;bookmarkGuid=9138f763-d30a-4870-ae12-763faa685799&amp;visual=6d413f06854ac3902608&quot;"/>
  </we:properties>
  <we:bindings/>
  <we:snapshot xmlns:r="http://schemas.openxmlformats.org/officeDocument/2006/relationships"/>
</we:webextension>
</file>

<file path=ppt/webextensions/webextension9.xml><?xml version="1.0" encoding="utf-8"?>
<we:webextension xmlns:we="http://schemas.microsoft.com/office/webextensions/webextension/2010/11" id="{80567718-D371-4C3C-ACAD-543A1C123459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Name" value="&quot;Intakes und Outcome nach Jahr/Monat/Tag&quot;"/>
    <we:property name="artifactViewState" value="&quot;live&quot;"/>
    <we:property name="backgroundColor" value="&quot;#FFF&quot;"/>
    <we:property name="bookmark" value="&quot;H4sIAAAAAAAAA+1Z3U/jOBD/V1Z52ZcK2flqwhtwPJxYFrScOJ1OqBrbE+rd1Ok5DguL+r/vOKG728ISvtpyEk+k9mTmN7+Z8YzDdaB0PS3h6iNMMNgOPmCN31DLMZp3PBgEplvePTo6ONz5dDD6uHO4T8vV1OnK1MH2deDAnqM71XUDpVdCi/+eDQIoy2M4978KKGscBFO0dWWg1N+wE6YtZxucDQK8nJaVBa/yxIFDr/aCxOk32eZbPCGTIJ2+wBOU7mYZOMt5UuRZClHC45QpRmJ1J9BCu1PE627t71XGgTZkx68lhRBFGDEVcsEYcuTD2K/X2pyXN4h/vvvX1dTT4vDSierSEyI+k2Gvify5odSLTyrlBcdaKTTBbEa7OY+ZgDziIXAMMQ4jIbxooUt3A0Zc7V9OLRFJ9HaWdtQFGIkqaNmyWHfkXAeHCHVjW8r2FzZOqsZK/IRFu2WcdgQoYKNDqMeBx3FsK4pJu/onMfGFYuWXx9XXPYsUBRVss9kZrdxLgQSrlv2vrEK7e9Xi/0PbecjCwRLEF8Y+O+ujHos8jPmQ5xFKFiYZS9imqd9v3BgM1LrF+FT6oXHVCZbE9Okvu768HpWaaQhFkqWxkEmokjABkbNefvYI7HlltSR4yxTtVWUzMQ9lSOnJSPn6X+LokCp1fAc7g/4YvQyAfxDsvfZXz8HfiF8UBe5JLKz4kFgXgqPGyWryxHOqbGrKYVS7YPfGYN0rOrS61kbbn39pXjcp1QF60TQ+a2t9iEwwWbBU5lxQP1IAfI21XpDTI7xA4+qRLBHMMth6ilL3pNvLlh0YPSFFSziERTL7GsvuLeeflk9nvX0wFInIE8ZFipzHKmcAuOE5YUd1M/edY8K6cvH+YWVtbcCN0b57TjNQlWnc5itikc7+8XUoeQxSygyjfDik9AR4xvi60tGoNwR1qSXaBfqDCdJV0j+QIWh9mHaGfN3+oOS69cP//aDJ7U73KZSNV/t+F91XRPPeM9a2ut8cNe0L9Sqaa18U45CzNMojkUue0kMYRW+N9xGNd3OpRZUqV5dYj+xghBRMPf9k0hm0Vdk+zUHQiVKSxrLb/a9Be0VWW4lb1rbm6uklXRP0Eqa1Z7y7RWrKXw/0AK9W7Zy3f6yNmRv3ebeA/WfObHVJ8hvIi1pIyFaV87DmzsxjZZqyfMD5mw2LiEcJCxljMVdZHrLci96bjQSTMu9R1/CMx5jGPASRiUxFkLNo+JrHj9f/kWgBfn+g41SJIqILUuojHUI2ZGrDAXj+0LPxINxyoT8QqYp5RHfULKHBJ8pZmLJsw4F4yGeQNXZr3cIZycoo3Qbv7Z744oT2z3SFSIYqVmEuMVVRzHKA/jxd50yHl6NmWplR593b54z/fZrejmhflraJetdIXDWunoLEYzB4x2jcDpoKVc943P6br6sGipoWZd88/eOF7ovk7DshiM/pixwAAA==&quot;"/>
    <we:property name="creatorSessionId" value="&quot;816ac894-cfb7-439f-acaf-0845c658a654&quot;"/>
    <we:property name="creatorTenantId" value="&quot;7db25319-c04d-4699-88f4-84306cdd3f56&quot;"/>
    <we:property name="creatorUserId" value="&quot;10032004B43912AC&quot;"/>
    <we:property name="datasetId" value="&quot;8ae6325e-e960-4e22-9dad-ac23f98de1b8&quot;"/>
    <we:property name="embedUrl" value="&quot;/reportEmbed?reportId=9bc4c742-2e3b-4c78-bf50-fce42bfdd82b&amp;groupId=c393bef6-61f1-4905-8799-b7feadfa2c4b&amp;w=2&amp;config=eyJjbHVzdGVyVXJsIjoiaHR0cHM6Ly9XQUJJLUdFUk1BTlktV0VTVC1DRU5UUkFMLVBSSU1BUlktcmVkaXJlY3QuYW5hbHlzaXMud2luZG93cy5uZXQiLCJlbWJlZEZlYXR1cmVzIjp7InVzYWdlTWV0cmljc1ZOZXh0Ijp0cnVlfX0%3D&amp;disableSensitivityBanner=true&amp;storytellingAnnotations=true&amp;storytellingChangeViewModeShortcutKeys=true&quot;"/>
    <we:property name="initialStateBookmark" value="&quot;H4sIAAAAAAAAA+1Z3U/jOBD/V1Z52ZcK2flqwhtwPJxYFrScOJ1OqBrbE+rd1Ok5DguL+r/vOKG728ISvtpyEk+k9mTmN7+Z8YzDdaB0PS3h6iNMMNgOPmCN31DLMZp3PBgEplvePTo6ONz5dDD6uHO4T8vV1OnK1MH2deDAnqM71XUDpVdCi/+eDQIoy2M4978KKGscBFO0dWWg1N+wE6YtZxucDQK8nJaVBa/yxIFDr/aCxOk32eZbPCGTIJ2+wBOU7mYZOMt5UuRZClHC45QpRmJ1J9BCu1PE627t71XGgTZkx68lhRBFGDEVcsEYcuTD2K/X2pyXN4h/vvvX1dTT4vDSierSEyI+k2Gvify5odSLTyrlBcdaKTTBbEa7OY+ZgDziIXAMMQ4jIbxooUt3A0Zc7V9OLRFJ9HaWdtQFGIkqaNmyWHfkXAeHCHVjW8r2FzZOqsZK/IRFu2WcdgQoYKNDqMeBx3FsK4pJu/onMfGFYuWXx9XXPYsUBRVss9kZrdxLgQSrlv2vrEK7e9Xi/0PbecjCwRLEF8Y+O+ujHos8jPmQ5xFKFiYZS9imqd9v3BgM1LrF+FT6oXHVCZbE9Okvu768HpWaaQhFkqWxkEmokjABkbNefvYI7HlltSR4yxTtVWUzMQ9lSOnJSPn6X+LokCp1fAc7g/4YvQyAfxDsvfZXz8HfiF8UBe5JLKz4kFgXgqPGyWryxHOqbGrKYVS7YPfGYN0rOrS61kbbn39pXjcp1QF60TQ+a2t9iEwwWbBU5lxQP1IAfI21XpDTI7xA4+qRLBHMMth6ilL3pNvLlh0YPSFFSziERTL7GsvuLeeflk9nvX0wFInIE8ZFipzHKmcAuOE5YUd1M/edY8K6cvH+YWVtbcCN0b57TjNQlWnc5itikc7+8XUoeQxSygyjfDik9AR4xvi60tGoNwR1qSXaBfqDCdJV0j+QIWh9mHaGfN3+oOS69cP//aDJ7U73KZSNV/t+F91XRPPeM9a2ut8cNe0L9Sqaa18U45CzNMojkUue0kMYRW+N9xGNd3OpRZUqV5dYj+xghBRMPf9k0hm0Vdk+zUHQiVKSxrLb/a9Be0VWW4lb1rbm6uklXRP0Eqa1Z7y7RWrKXw/0AK9W7Zy3f6yNmRv3ebeA/WfObHVJ8hvIi1pIyFaV87DmzsxjZZqyfMD5mw2LiEcJCxljMVdZHrLci96bjQSTMu9R1/CMx5jGPASRiUxFkLNo+JrHj9f/kWgBfn+g41SJIqILUuojHUI2ZGrDAXj+0LPxINxyoT8QqYp5RHfULKHBJ8pZmLJsw4F4yGeQNXZr3cIZycoo3Qbv7Z744oT2z3SFSIYqVmEuMVVRzHKA/jxd50yHl6NmWplR593b54z/fZrejmhflraJetdIXDWunoLEYzB4x2jcDpoKVc943P6br6sGipoWZd88/eOF7ovk7DshiM/pixwAAA==&quot;"/>
    <we:property name="isFiltersActionButtonVisible" value="false"/>
    <we:property name="isFooterCollapsed" value="true"/>
    <we:property name="isVisualContainerHeaderHidden" value="false"/>
    <we:property name="numberOfAnnotations" value="0"/>
    <we:property name="pageDisplayName" value="&quot;Übersicht – Intakes und Outcomes&quot;"/>
    <we:property name="pageName" value="&quot;1a10915f986a351460d0&quot;"/>
    <we:property name="pptInsertionSessionID" value="&quot;F0248D09-8A22-4B17-8ACF-86F89B384209&quot;"/>
    <we:property name="reportEmbeddedTime" value="&quot;2025-10-08T14:45:02.740Z&quot;"/>
    <we:property name="reportName" value="&quot;Abschluss Mick&quot;"/>
    <we:property name="reportState" value="&quot;CONNECTED&quot;"/>
    <we:property name="reportUrl" value="&quot;/links/HSVv8k9VlK?ctid=7db25319-c04d-4699-88f4-84306cdd3f56&amp;bookmarkGuid=d60fa94c-3b9f-47aa-9446-60ad76a94fd9&amp;visual=62af5864bc52d525ab9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1814</Words>
  <Application>Microsoft Office PowerPoint</Application>
  <PresentationFormat>Breitbild</PresentationFormat>
  <Paragraphs>179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Aptos</vt:lpstr>
      <vt:lpstr>Arial</vt:lpstr>
      <vt:lpstr>Trebuchet MS</vt:lpstr>
      <vt:lpstr>Wingdings 3</vt:lpstr>
      <vt:lpstr>Facette</vt:lpstr>
      <vt:lpstr>Datenanalyse – Austin Animal Center</vt:lpstr>
      <vt:lpstr>Agenda </vt:lpstr>
      <vt:lpstr>Ziel &amp; Datenbasis </vt:lpstr>
      <vt:lpstr>Aufbau des Datenmodells </vt:lpstr>
      <vt:lpstr>Übersicht: Intakes &amp; Outcomes </vt:lpstr>
      <vt:lpstr>Adoptionen (Überblick) </vt:lpstr>
      <vt:lpstr>Adoptionen im Zeitverlauf </vt:lpstr>
      <vt:lpstr>Euthanasie (Überblick) </vt:lpstr>
      <vt:lpstr>Gesundheit &amp; Euthanasien </vt:lpstr>
      <vt:lpstr>Gesundheit &amp; Intakes </vt:lpstr>
      <vt:lpstr>Zeitliche Entwicklung 2013–2018 </vt:lpstr>
      <vt:lpstr>Fazit &amp; Ausblick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Hornung</dc:creator>
  <cp:lastModifiedBy>Michael Hornung</cp:lastModifiedBy>
  <cp:revision>7</cp:revision>
  <dcterms:created xsi:type="dcterms:W3CDTF">2025-10-07T13:28:28Z</dcterms:created>
  <dcterms:modified xsi:type="dcterms:W3CDTF">2025-10-13T06:54:59Z</dcterms:modified>
</cp:coreProperties>
</file>